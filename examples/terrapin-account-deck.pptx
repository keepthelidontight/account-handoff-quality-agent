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b5d9bbbdb2444e" /><Relationship Type="http://schemas.openxmlformats.org/officeDocument/2006/relationships/extended-properties" Target="/docProps/app.xml" Id="Rc46895633c334973" /><Relationship Type="http://schemas.openxmlformats.org/officeDocument/2006/relationships/officeDocument" Target="/ppt/presentation.xml" Id="R01a6a0c9b2f4480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627d37504fe4ed0"/>
  </p:sldMasterIdLst>
  <p:notesMasterIdLst>
    <p:notesMasterId xmlns:r="http://schemas.openxmlformats.org/officeDocument/2006/relationships" r:id="Rf207c6b9877c48a4"/>
  </p:notesMasterIdLst>
  <p:sldIdLst>
    <p:sldId xmlns:r="http://schemas.openxmlformats.org/officeDocument/2006/relationships" id="256" r:id="Raca11c4ca44e47ac"/>
    <p:sldId xmlns:r="http://schemas.openxmlformats.org/officeDocument/2006/relationships" id="257" r:id="R6d37f69b9d4941f0"/>
    <p:sldId xmlns:r="http://schemas.openxmlformats.org/officeDocument/2006/relationships" id="258" r:id="R89994139c9834bcd"/>
    <p:sldId xmlns:r="http://schemas.openxmlformats.org/officeDocument/2006/relationships" id="259" r:id="Rb1a2f9b26f234493"/>
    <p:sldId xmlns:r="http://schemas.openxmlformats.org/officeDocument/2006/relationships" id="260" r:id="R93b4187823c24368"/>
  </p:sldIdLst>
  <p:sldSz cx="12192000" cy="6858000"/>
  <p:notesSz cx="6858000" cy="9144000"/>
  <p:embeddedFontLst>
    <p:embeddedFont>
      <p:font typeface="Inter"/>
      <p:regular xmlns:r="http://schemas.openxmlformats.org/officeDocument/2006/relationships" r:id="R649ea43289e54c8c"/>
      <p:bold xmlns:r="http://schemas.openxmlformats.org/officeDocument/2006/relationships" r:id="R417b3c997bf34e1e"/>
    </p:embeddedFont>
    <p:embeddedFont>
      <p:font typeface="Inter Medium"/>
      <p:regular xmlns:r="http://schemas.openxmlformats.org/officeDocument/2006/relationships" r:id="Rc8fcc19b85604d07"/>
    </p:embeddedFont>
    <p:embeddedFont>
      <p:font typeface="Inter SemiBold"/>
      <p:regular xmlns:r="http://schemas.openxmlformats.org/officeDocument/2006/relationships" r:id="Ra02fa427e1fd4f13"/>
      <p:bold xmlns:r="http://schemas.openxmlformats.org/officeDocument/2006/relationships" r:id="R2330ebdb65f94979"/>
    </p:embeddedFont>
    <p:embeddedFont>
      <p:font typeface="OpenAI Sans"/>
      <p:regular xmlns:r="http://schemas.openxmlformats.org/officeDocument/2006/relationships" r:id="R9f48d405c05546de"/>
      <p:bold xmlns:r="http://schemas.openxmlformats.org/officeDocument/2006/relationships" r:id="R2abaaf7a2c6548d1"/>
      <p:italic xmlns:r="http://schemas.openxmlformats.org/officeDocument/2006/relationships" r:id="Ra2045c0842ed40ed"/>
      <p:boldItalic xmlns:r="http://schemas.openxmlformats.org/officeDocument/2006/relationships" r:id="R88ea513927dc44c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d85da1b055433e" /><Relationship Type="http://schemas.openxmlformats.org/officeDocument/2006/relationships/slideMaster" Target="/ppt/slideMasters/slideMaster1.xml" Id="Re627d37504fe4ed0" /><Relationship Type="http://schemas.openxmlformats.org/officeDocument/2006/relationships/notesMaster" Target="/ppt/notesMasters/notesMaster1.xml" Id="Rf207c6b9877c48a4" /><Relationship Type="http://schemas.openxmlformats.org/officeDocument/2006/relationships/presProps" Target="/ppt/presProps.xml" Id="R63a2846df33746b1" /><Relationship Type="http://schemas.openxmlformats.org/officeDocument/2006/relationships/viewProps" Target="/ppt/viewProps.xml" Id="Rfd69e9ceeebb46f7" /><Relationship Type="http://schemas.openxmlformats.org/officeDocument/2006/relationships/tableStyles" Target="/ppt/tableStyles.xml" Id="Ra02295e31aac443d" /><Relationship Type="http://schemas.openxmlformats.org/officeDocument/2006/relationships/font" Target="/ppt/fonts/font.dat" Id="R649ea43289e54c8c" /><Relationship Type="http://schemas.openxmlformats.org/officeDocument/2006/relationships/font" Target="/ppt/fonts/font2.dat" Id="R417b3c997bf34e1e" /><Relationship Type="http://schemas.openxmlformats.org/officeDocument/2006/relationships/font" Target="/ppt/fonts/font3.dat" Id="Rc8fcc19b85604d07" /><Relationship Type="http://schemas.openxmlformats.org/officeDocument/2006/relationships/font" Target="/ppt/fonts/font4.dat" Id="Ra02fa427e1fd4f13" /><Relationship Type="http://schemas.openxmlformats.org/officeDocument/2006/relationships/font" Target="/ppt/fonts/font5.dat" Id="R2330ebdb65f94979" /><Relationship Type="http://schemas.openxmlformats.org/officeDocument/2006/relationships/font" Target="/ppt/fonts/font6.dat" Id="R9f48d405c05546de" /><Relationship Type="http://schemas.openxmlformats.org/officeDocument/2006/relationships/font" Target="/ppt/fonts/font7.dat" Id="R2abaaf7a2c6548d1" /><Relationship Type="http://schemas.openxmlformats.org/officeDocument/2006/relationships/font" Target="/ppt/fonts/font8.dat" Id="Ra2045c0842ed40ed" /><Relationship Type="http://schemas.openxmlformats.org/officeDocument/2006/relationships/font" Target="/ppt/fonts/font9.dat" Id="R88ea513927dc44ce" /><Relationship Type="http://schemas.openxmlformats.org/officeDocument/2006/relationships/slide" Target="/ppt/slides/slide1.xml" Id="Raca11c4ca44e47ac" /><Relationship Type="http://schemas.openxmlformats.org/officeDocument/2006/relationships/slide" Target="/ppt/slides/slide2.xml" Id="R6d37f69b9d4941f0" /><Relationship Type="http://schemas.openxmlformats.org/officeDocument/2006/relationships/slide" Target="/ppt/slides/slide3.xml" Id="R89994139c9834bcd" /><Relationship Type="http://schemas.openxmlformats.org/officeDocument/2006/relationships/slide" Target="/ppt/slides/slide4.xml" Id="Rb1a2f9b26f234493" /><Relationship Type="http://schemas.openxmlformats.org/officeDocument/2006/relationships/slide" Target="/ppt/slides/slide5.xml" Id="R93b4187823c243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7ac0b312d245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a3fe1ccda64400" /><Relationship Type="http://schemas.openxmlformats.org/officeDocument/2006/relationships/notesMaster" Target="/ppt/notesMasters/notesMaster1.xml" Id="R0cee7fc7752645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a8322283d74626" /><Relationship Type="http://schemas.openxmlformats.org/officeDocument/2006/relationships/notesMaster" Target="/ppt/notesMasters/notesMaster1.xml" Id="Rd657d86a31d641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7f2ac7f5344c4e" /><Relationship Type="http://schemas.openxmlformats.org/officeDocument/2006/relationships/notesMaster" Target="/ppt/notesMasters/notesMaster1.xml" Id="R3409f45e00d241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7e02b6dbac47fd" /><Relationship Type="http://schemas.openxmlformats.org/officeDocument/2006/relationships/notesMaster" Target="/ppt/notesMasters/notesMaster1.xml" Id="R602faba10a46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f4b0a206d54f99" /><Relationship Type="http://schemas.openxmlformats.org/officeDocument/2006/relationships/notesMaster" Target="/ppt/notesMasters/notesMaster1.xml" Id="R1255fac651484c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overview derived from validated stored history. As of 2026-12-01T09:00:00-06:00. This is not live CRM data.</a:t>
            </a:r>
          </a:p>
          <a:p xmlns:a="http://schemas.openxmlformats.org/drawingml/2006/main">
            <a:r>
              <a:t>Account: Terrapin Touring Co. (0015g00002ABCDeAAH)</a:t>
            </a:r>
          </a:p>
          <a:p xmlns:a="http://schemas.openxmlformats.org/drawingml/2006/main">
            <a:r>
              <a:t>Latest handoff: terrapin-2026-12-01-implementation-cs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Outstanding actions as of 2026-12-01T09:00:00-06:00. These are the most recent recorded action states across every stored handoff. An action stays open until a later event explicitly changes its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terrapin-investigation-target</a:t>
            </a:r>
          </a:p>
          <a:p xmlns:a="http://schemas.openxmlformats.org/drawingml/2006/main">
            <a:r>
              <a:t>Originating handoff: terrapin-2026-09-16-sales-implementation</a:t>
            </a:r>
          </a:p>
          <a:p xmlns:a="http://schemas.openxmlformats.org/drawingml/2006/main">
            <a:r>
              <a:t>Last update: terrapin-2026-09-16-sales-implementation</a:t>
            </a:r>
          </a:p>
          <a:p xmlns:a="http://schemas.openxmlformats.org/drawingml/2006/main">
            <a:r>
              <a:t>Verify mean investigation time ≤42 minutes against the agreed 60-minute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terrapin-training</a:t>
            </a:r>
          </a:p>
          <a:p xmlns:a="http://schemas.openxmlformats.org/drawingml/2006/main">
            <a:r>
              <a:t>Originating handoff: terrapin-2026-12-01-implementation-cs</a:t>
            </a:r>
          </a:p>
          <a:p xmlns:a="http://schemas.openxmlformats.org/drawingml/2006/main">
            <a:r>
              <a:t>Last update: terrapin-2026-12-01-implementation-cs</a:t>
            </a:r>
          </a:p>
          <a:p xmlns:a="http://schemas.openxmlformats.org/drawingml/2006/main">
            <a:r>
              <a:t>Confirm the customer training session and record the agreed 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terrapin-qbr</a:t>
            </a:r>
          </a:p>
          <a:p xmlns:a="http://schemas.openxmlformats.org/drawingml/2006/main">
            <a:r>
              <a:t>Originating handoff: terrapin-2026-12-01-implementation-cs</a:t>
            </a:r>
          </a:p>
          <a:p xmlns:a="http://schemas.openxmlformats.org/drawingml/2006/main">
            <a:r>
              <a:t>Last update: terrapin-2026-12-01-implementation-cs</a:t>
            </a:r>
          </a:p>
          <a:p xmlns:a="http://schemas.openxmlformats.org/drawingml/2006/main">
            <a:r>
              <a:t>Confirm the first QBR date with the customer.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Handoff timeline from validated stored history. Each row is a dated immutable event.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terrapin-2026-09-16-sales-implementation</a:t>
            </a:r>
          </a:p>
          <a:p xmlns:a="http://schemas.openxmlformats.org/drawingml/2006/main">
            <a:r>
              <a:t>2026-09-16T09:00:00-05:00</a:t>
            </a:r>
          </a:p>
          <a:p xmlns:a="http://schemas.openxmlformats.org/drawingml/2006/main">
            <a:r>
              <a:t>Samson Delilah (Sales) to Ruben Cherise (Implementation)</a:t>
            </a:r>
          </a:p>
          <a:p xmlns:a="http://schemas.openxmlformats.org/drawingml/2006/main">
            <a:r>
              <a:t>Ready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terrapin-2026-12-01-implementation-cs</a:t>
            </a:r>
          </a:p>
          <a:p xmlns:a="http://schemas.openxmlformats.org/drawingml/2006/main">
            <a:r>
              <a:t>2026-12-01T09:00:00-06:00</a:t>
            </a:r>
          </a:p>
          <a:p xmlns:a="http://schemas.openxmlformats.org/drawingml/2006/main">
            <a:r>
              <a:t>Ruben Cherise (Implementation) to Althea Cassidy (Customer Success)</a:t>
            </a:r>
          </a:p>
          <a:p xmlns:a="http://schemas.openxmlformats.org/drawingml/2006/main">
            <a:r>
              <a:t>Needs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terrapin-2026-09-16-sales-implementation</a:t>
            </a:r>
          </a:p>
          <a:p xmlns:a="http://schemas.openxmlformats.org/drawingml/2006/main">
            <a:r>
              <a:t>Effective: 2026-09-16T09:00:00-05:00</a:t>
            </a:r>
          </a:p>
          <a:p xmlns:a="http://schemas.openxmlformats.org/drawingml/2006/main">
            <a:r>
              <a:t>Recorded: 2026-09-16T10:00:00-05:00</a:t>
            </a:r>
          </a:p>
          <a:p xmlns:a="http://schemas.openxmlformats.org/drawingml/2006/main">
            <a:r>
              <a:t>Type: sales_to_implementation</a:t>
            </a:r>
          </a:p>
          <a:p xmlns:a="http://schemas.openxmlformats.org/drawingml/2006/main">
            <a:r>
              <a:t>Policy: Sales handoff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opportunity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snapshots/ready/Opportunity.csv</a:t>
            </a:r>
          </a:p>
          <a:p xmlns:a="http://schemas.openxmlformats.org/drawingml/2006/main">
            <a:r>
              <a:t>Record: 0065g00003OPP001AAH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Agreed 2026-09-10: identity-team notice by 2026-09-18; SSO validation 2026-10-02; corporate pilot starts 2026-10-05; venue rollout starts 2026-11-02 and completes 2026-11-30.</a:t>
            </a:r>
          </a:p>
          <a:p xmlns:a="http://schemas.openxmlformats.org/drawingml/2006/main">
            <a:r>
              <a:t>SHA-256: a05e8a265a664ea289e796614b9b0ab6c0156f1a4a7f699e4a3250d47f3c0ef1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[S4]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[S5] Original source ID: contact-scarlet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Scarlet Begonia — VP, Information Security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[S6] Original source ID: contact-casey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0035g00004CON002AAH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Casey Jones — Director, Security Engineering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[S7] Original source ID: contact-jack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0035g00004CON003AAH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Jack Straw — Procurement Manager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terrapin-2026-12-01-implementation-cs</a:t>
            </a:r>
          </a:p>
          <a:p xmlns:a="http://schemas.openxmlformats.org/drawingml/2006/main">
            <a:r>
              <a:t>Effective: 2026-12-01T09:00:00-06:00</a:t>
            </a:r>
          </a:p>
          <a:p xmlns:a="http://schemas.openxmlformats.org/drawingml/2006/main">
            <a:r>
              <a:t>Recorded: 2026-12-01T10:00:00-06:00</a:t>
            </a:r>
          </a:p>
          <a:p xmlns:a="http://schemas.openxmlformats.org/drawingml/2006/main">
            <a:r>
              <a:t>Type: internal_transfer</a:t>
            </a:r>
          </a:p>
          <a:p xmlns:a="http://schemas.openxmlformats.org/drawingml/2006/main">
            <a:r>
              <a:t>Policy: Internal transfer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88fcb4345e43f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196a7d77394d4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98c7b3d57b4c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9d5c693109426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94bef1cb6473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5d9df914ae42f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c34bbd2ae44c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64e371737548f2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81548d3daf433c" /><Relationship Type="http://schemas.openxmlformats.org/officeDocument/2006/relationships/slideLayout" Target="/ppt/slideLayouts/slideLayout1.xml" Id="R888bb6564b874c98" /><Relationship Type="http://schemas.openxmlformats.org/officeDocument/2006/relationships/slideLayout" Target="/ppt/slideLayouts/slideLayout2.xml" Id="R86f21672137e4594" /><Relationship Type="http://schemas.openxmlformats.org/officeDocument/2006/relationships/slideLayout" Target="/ppt/slideLayouts/slideLayout3.xml" Id="R04339ae8cda044c4" /><Relationship Type="http://schemas.openxmlformats.org/officeDocument/2006/relationships/slideLayout" Target="/ppt/slideLayouts/slideLayout4.xml" Id="R59a8ea6da2914779" /><Relationship Type="http://schemas.openxmlformats.org/officeDocument/2006/relationships/slideLayout" Target="/ppt/slideLayouts/slideLayout5.xml" Id="Rb57fb7d86daa491a" /><Relationship Type="http://schemas.openxmlformats.org/officeDocument/2006/relationships/slideLayout" Target="/ppt/slideLayouts/slideLayout6.xml" Id="R11a8b89272094137" /><Relationship Type="http://schemas.openxmlformats.org/officeDocument/2006/relationships/slideLayout" Target="/ppt/slideLayouts/slideLayout7.xml" Id="R03be1c9eef644f75" /><Relationship Type="http://schemas.openxmlformats.org/officeDocument/2006/relationships/slideLayout" Target="/ppt/slideLayouts/slideLayout8.xml" Id="Rd4373067204f464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0026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8bb6564b874c98"/>
    <p:sldLayoutId xmlns:r="http://schemas.openxmlformats.org/officeDocument/2006/relationships" id="2147483650" r:id="R86f21672137e4594"/>
    <p:sldLayoutId xmlns:r="http://schemas.openxmlformats.org/officeDocument/2006/relationships" id="2147483651" r:id="R04339ae8cda044c4"/>
    <p:sldLayoutId xmlns:r="http://schemas.openxmlformats.org/officeDocument/2006/relationships" id="2147483652" r:id="R59a8ea6da2914779"/>
    <p:sldLayoutId xmlns:r="http://schemas.openxmlformats.org/officeDocument/2006/relationships" id="2147483653" r:id="Rb57fb7d86daa491a"/>
    <p:sldLayoutId xmlns:r="http://schemas.openxmlformats.org/officeDocument/2006/relationships" id="2147483654" r:id="R11a8b89272094137"/>
    <p:sldLayoutId xmlns:r="http://schemas.openxmlformats.org/officeDocument/2006/relationships" id="2147483655" r:id="R03be1c9eef644f75"/>
    <p:sldLayoutId xmlns:r="http://schemas.openxmlformats.org/officeDocument/2006/relationships" id="2147483656" r:id="Rd4373067204f4640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xmlns:a="http://schemas.openxmlformats.org/drawingml/2006/main" val="F26B43"/>
          </p15:clr>
        </p15:guide>
        <p15:guide id="2" pos="7680">
          <p15:clr>
            <a:srgbClr xmlns:a="http://schemas.openxmlformats.org/drawingml/2006/main" val="F26B43"/>
          </p15:clr>
        </p15:guide>
        <p15:guide id="3" pos="248">
          <p15:clr>
            <a:srgbClr xmlns:a="http://schemas.openxmlformats.org/drawingml/2006/main" val="F26B43"/>
          </p15:clr>
        </p15:guide>
        <p15:guide id="4" pos="1264">
          <p15:clr>
            <a:srgbClr xmlns:a="http://schemas.openxmlformats.org/drawingml/2006/main" val="F26B43"/>
          </p15:clr>
        </p15:guide>
        <p15:guide id="5" pos="1480">
          <p15:clr>
            <a:srgbClr xmlns:a="http://schemas.openxmlformats.org/drawingml/2006/main" val="F26B43"/>
          </p15:clr>
        </p15:guide>
        <p15:guide id="6" pos="2496">
          <p15:clr>
            <a:srgbClr xmlns:a="http://schemas.openxmlformats.org/drawingml/2006/main" val="F26B43"/>
          </p15:clr>
        </p15:guide>
        <p15:guide id="7" pos="2712">
          <p15:clr>
            <a:srgbClr xmlns:a="http://schemas.openxmlformats.org/drawingml/2006/main" val="F26B43"/>
          </p15:clr>
        </p15:guide>
        <p15:guide id="8" pos="3736">
          <p15:clr>
            <a:srgbClr xmlns:a="http://schemas.openxmlformats.org/drawingml/2006/main" val="F26B43"/>
          </p15:clr>
        </p15:guide>
        <p15:guide id="9" pos="3944">
          <p15:clr>
            <a:srgbClr xmlns:a="http://schemas.openxmlformats.org/drawingml/2006/main" val="F26B43"/>
          </p15:clr>
        </p15:guide>
        <p15:guide id="10" pos="4968">
          <p15:clr>
            <a:srgbClr xmlns:a="http://schemas.openxmlformats.org/drawingml/2006/main" val="F26B43"/>
          </p15:clr>
        </p15:guide>
        <p15:guide id="11" pos="5184">
          <p15:clr>
            <a:srgbClr xmlns:a="http://schemas.openxmlformats.org/drawingml/2006/main" val="F26B43"/>
          </p15:clr>
        </p15:guide>
        <p15:guide id="12" pos="6200">
          <p15:clr>
            <a:srgbClr xmlns:a="http://schemas.openxmlformats.org/drawingml/2006/main" val="F26B43"/>
          </p15:clr>
        </p15:guide>
        <p15:guide id="13" pos="6416">
          <p15:clr>
            <a:srgbClr xmlns:a="http://schemas.openxmlformats.org/drawingml/2006/main" val="F26B43"/>
          </p15:clr>
        </p15:guide>
        <p15:guide id="14" pos="7432">
          <p15:clr>
            <a:srgbClr xmlns:a="http://schemas.openxmlformats.org/drawingml/2006/main" val="F26B43"/>
          </p15:clr>
        </p15:guide>
        <p15:guide id="15" orient="horz">
          <p15:clr>
            <a:srgbClr xmlns:a="http://schemas.openxmlformats.org/drawingml/2006/main" val="F26B43"/>
          </p15:clr>
        </p15:guide>
        <p15:guide id="17" orient="horz" pos="248">
          <p15:clr>
            <a:srgbClr xmlns:a="http://schemas.openxmlformats.org/drawingml/2006/main" val="F26B43"/>
          </p15:clr>
        </p15:guide>
        <p15:guide id="18" orient="horz" pos="656">
          <p15:clr>
            <a:srgbClr xmlns:a="http://schemas.openxmlformats.org/drawingml/2006/main" val="F26B43"/>
          </p15:clr>
        </p15:guide>
        <p15:guide id="19" orient="horz" pos="872">
          <p15:clr>
            <a:srgbClr xmlns:a="http://schemas.openxmlformats.org/drawingml/2006/main" val="F26B43"/>
          </p15:clr>
        </p15:guide>
        <p15:guide id="20" orient="horz" pos="1280">
          <p15:clr>
            <a:srgbClr xmlns:a="http://schemas.openxmlformats.org/drawingml/2006/main" val="F26B43"/>
          </p15:clr>
        </p15:guide>
        <p15:guide id="21" orient="horz" pos="1496">
          <p15:clr>
            <a:srgbClr xmlns:a="http://schemas.openxmlformats.org/drawingml/2006/main" val="F26B43"/>
          </p15:clr>
        </p15:guide>
        <p15:guide id="22" orient="horz" pos="1904">
          <p15:clr>
            <a:srgbClr xmlns:a="http://schemas.openxmlformats.org/drawingml/2006/main" val="F26B43"/>
          </p15:clr>
        </p15:guide>
        <p15:guide id="23" orient="horz" pos="2120">
          <p15:clr>
            <a:srgbClr xmlns:a="http://schemas.openxmlformats.org/drawingml/2006/main" val="F26B43"/>
          </p15:clr>
        </p15:guide>
        <p15:guide id="24" orient="horz" pos="2528">
          <p15:clr>
            <a:srgbClr xmlns:a="http://schemas.openxmlformats.org/drawingml/2006/main" val="F26B43"/>
          </p15:clr>
        </p15:guide>
        <p15:guide id="25" orient="horz" pos="2744">
          <p15:clr>
            <a:srgbClr xmlns:a="http://schemas.openxmlformats.org/drawingml/2006/main" val="F26B43"/>
          </p15:clr>
        </p15:guide>
        <p15:guide id="26" orient="horz" pos="3152">
          <p15:clr>
            <a:srgbClr xmlns:a="http://schemas.openxmlformats.org/drawingml/2006/main" val="F26B43"/>
          </p15:clr>
        </p15:guide>
        <p15:guide id="27" orient="horz" pos="3368">
          <p15:clr>
            <a:srgbClr xmlns:a="http://schemas.openxmlformats.org/drawingml/2006/main" val="F26B43"/>
          </p15:clr>
        </p15:guide>
        <p15:guide id="28" orient="horz" pos="3776">
          <p15:clr>
            <a:srgbClr xmlns:a="http://schemas.openxmlformats.org/drawingml/2006/main" val="F26B43"/>
          </p15:clr>
        </p15:guide>
        <p15:guide id="29" orient="horz" pos="4088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e91535ce5046d7" /><Relationship Type="http://schemas.openxmlformats.org/officeDocument/2006/relationships/notesSlide" Target="/ppt/notesSlides/notesSlide1.xml" Id="Rf7a55f9195084d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f664b3a6a4fec" /><Relationship Type="http://schemas.openxmlformats.org/officeDocument/2006/relationships/notesSlide" Target="/ppt/notesSlides/notesSlide2.xml" Id="Rf9f5b627456842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b4e1dcfcbc49c8" /><Relationship Type="http://schemas.openxmlformats.org/officeDocument/2006/relationships/notesSlide" Target="/ppt/notesSlides/notesSlide3.xml" Id="R13b930367c5e43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bfe60957da4882" /><Relationship Type="http://schemas.openxmlformats.org/officeDocument/2006/relationships/notesSlide" Target="/ppt/notesSlides/notesSlide4.xml" Id="R82a5f8cccc9a41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9c72cd337d4709" /><Relationship Type="http://schemas.openxmlformats.org/officeDocument/2006/relationships/notesSlide" Target="/ppt/notesSlides/notesSlide5.xml" Id="R093c0d2902a64d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D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19B86-DF3C-4AFC-90C7-CE56D800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CURRENT ACCOUNT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F60F12-7E3A-4DE5-A2EA-DF5998F8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Terrapin Touring Co.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35C78-69CA-4A14-B08E-065BF3FD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BATON  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92C1F-73FB-4327-A978-6A424C1D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76D8D-07C6-48AA-9CA0-02131CCF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750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Needs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53981-8960-4637-95E1-D256E7A8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7239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Latest recorded state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Six venues are reporting and 96% of priority alerts arrive within 15 minutes. Training and QBR dates remain unconfirmed; the Dec 18 goal remains open. [S1, S3]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7057F-59C9-4569-A94B-39AE079D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5717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ACCOUNT OWNER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10BBEA-3B92-469B-A184-B0989C92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05125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Althea Cassidy, Customer Success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B30E37-5722-4164-95A5-433BEDCB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191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LATEST TRANSFER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37855-2F05-495B-96EF-6E48D171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24375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Implementation to Customer Success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2026-12-01 [S1]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108147-99D3-4DDE-A0AE-2C036618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WHAT THE NEXT TEAM NEEDS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7E59-C792-4813-BE13-B91ADC25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Current context and unresolved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1230B-D03F-4797-9E4F-166A878C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BATON  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638A8-3876-4531-9CAE-66ACB7D3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A2077-9945-4FA3-AE58-529BCB20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CUSTOMER GOAL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806EBB-9E36-4619-BF66-F9D2001D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4476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Maintain a single security view across six venues and monthly executive reporting. [S1, S2]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24169C-5CAD-4000-B92F-8DB41E19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81250"/>
            <a:ext cx="466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CUSTOMER STAKEHOLDERS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4AF9C-4AA4-47DD-9A77-5461AF6D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14625"/>
            <a:ext cx="4667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Althea Cassidy owns Customer Success. Scarlet remains sponsor; Casey remains the customer technical owner. [S1]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11D7BB-ED29-4226-8112-2DBDCDB0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995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OPEN 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1A503-5DFA-4AB6-9400-512F3DC8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309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Investigation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313B5D-8A89-4A62-B3C1-1FCBFAA1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309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Ruben Cherise (Implementation)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Due: 2026-12-18 [S1, S2]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C9A6F-16DE-423E-884F-2CECC00B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143500"/>
            <a:ext cx="309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Training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0A487-B812-4883-8EFC-F2BAEC80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476875"/>
            <a:ext cx="309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Due: Not confirmed [S3]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4FB04-0FA1-440E-8E32-DDAF095F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143500"/>
            <a:ext cx="309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QBR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D69097-4C6E-446F-BD2C-2993BA01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76875"/>
            <a:ext cx="309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Due: Not confirmed [S3]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2D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A02778-D709-45E3-82B3-AF3AC7D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THE ACCOUNT KEEPS ITS PRIOR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D3ADA-869B-426B-8C38-6FCD7612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Recorded handoff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9CCE8-8F0E-4945-A15A-28AAD710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BATON  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D103F4-CC09-420D-975E-01C53607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540A1-7683-4A7E-A15D-A1ABE0C3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2026-09-16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A5BBE-E1FE-419E-824B-46C9DA20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7650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Sales to Implementation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5F39A7-CC50-4363-B5B6-1E7A8F12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Ready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EE8E8-BAB9-4518-B562-79E4E6B2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71800"/>
            <a:ext cx="790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Samson Delilah hands the account to Ruben Cherise. Agreed owners, rollout dates and measures support implementation. SSO remains a rollout gate; the December investigation-time goal is still due. [S1, S4]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B5A93-B5E5-4499-B24A-0BF05C07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2026-12-01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74432-81FD-4D78-BACF-74B78287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386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Implementation to Customer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401EC-66A5-49AD-8606-516EC3E3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38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F7C96A"/>
                </a:solidFill>
                <a:latin typeface="Inter Medium"/>
                <a:ea typeface="Inter Medium"/>
                <a:cs typeface="Inter Medium"/>
              </a:defRPr>
            </a:pPr>
            <a:r>
              <a:t>Needs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B5DCC-C90A-469F-8544-A03B0204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733925"/>
            <a:ext cx="790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Ruben Cherise hands the account to Althea Cassidy. Six venues are reporting and 96% of priority alerts arrive within 15 minutes. Training and QBR dates remain unconfirmed; the Dec 18 goal remains open. [S1, S3]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F8E653-B4A0-4DD7-859F-A411B2C6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HISTORICAL HANDOFF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D1BD7-A650-4136-B15B-EA14174E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2026-09-16: Sales to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E39FBA-B9E6-428F-BA9D-301AB2C5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BATON  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FC767-C453-4985-8B1C-C7436491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3D3B0-0319-4816-9266-B7394BBC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6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Ready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40A3D-6D85-401A-A261-11CDFB32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Samson Delilah to Ruben Cherise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Closed Won purchase moves into the agreed implementation plan. [S1]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100AAA-48B2-431B-A96A-82D2C084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90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ASSESSMENT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FC37A-E0B2-4DB7-88DE-482BC4FB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24125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Agreed owners, rollout dates and measures support implementation. SSO remains a rollout gate; the December investigation-time goal is still due. [S1, S4]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C23B3-754D-4CAD-A2A4-F5024BD5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29125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COMMITMENTS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37DACB-B6D5-4B13-B12E-F1748BD2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SSO Oct 2; corporate pilot Oct 5; venues Nov 2–30. By Dec 18, mean investigation time ≤42 minutes from a 60-minute baseline. [S4]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12819-764A-486A-80BC-3EB3671C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291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OPEN QUESTIONS AND 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CCEB2E-9D4A-4BB1-A6E4-C9BBD595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625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SSO must pass before broad rollout; identity work needs two weeks’ notice. [S4]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1ADC4-69E5-4EF5-8BE6-C878D774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Sales handoff policy / Historical snapshot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E6E7B-7ED2-496E-8B98-9F8CA79F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HISTORICAL HANDOFF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42C02-A0EE-4D95-A3F8-FF38A44E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2026-12-01: Implementation to Customer Success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6C16A-2FAD-402B-A743-159D0C22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BATON  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B6841-4700-441C-9205-A6B43A5C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67CD5-C23B-4FFD-ACC5-6241D9ED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625">
                <a:solidFill>
                  <a:srgbClr val="B06B10"/>
                </a:solidFill>
                <a:latin typeface="Inter Medium"/>
                <a:ea typeface="Inter Medium"/>
                <a:cs typeface="Inter Medium"/>
              </a:defRPr>
            </a:pPr>
            <a:r>
              <a:t>Needs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ABD52-A6B8-499A-87B5-385249DF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Ruben Cherise to Althea Cassidy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Implementation milestone review transfers ongoing customer ownership to Customer Success. [S1]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4D981-3191-4854-B9D6-5C103651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90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ASSESSMENT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5C687-3A93-4834-8072-7A7EC84E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24125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Six venues are reporting and 96% of priority alerts arrive within 15 minutes. Training and QBR dates remain unconfirmed; the Dec 18 goal remains open. [S1, S3]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9E136-6A4C-4842-9C2B-AAB7740F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29125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COMMITMENTS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283F9-F319-4974-BD6B-9B872DFB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All six venues report; 96% of priority alerts arrive within 15 minutes. The ≤42-minute investigation target remains due Dec 18. [S1, S3]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4B2E0A-DD49-41BC-9F82-F0882990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291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OPEN QUESTIONS AND 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796F6-0960-4CAC-8270-201BED19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625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959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Customer training session and first QBR date: Not Confirmed. [S1]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Do not treat rollout metrics as proof of the investigation-time goal; its final measurement is still outstanding. [S1]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2C951-50AB-441D-8701-9238B6A8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75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Internal transfer policy / Historical snapshot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2026-09-17T02:30:11.1830000Z</dcterms:created>
  <dcterms:modified xsi:type="dcterms:W3CDTF">2026-09-17T02:30:11.1830000Z</dcterms:modified>
</coreProperties>
</file>