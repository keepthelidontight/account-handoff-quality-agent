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8c159dacf3f4cc9" /><Relationship Type="http://schemas.openxmlformats.org/officeDocument/2006/relationships/extended-properties" Target="/docProps/app.xml" Id="R182c851fa9584358" /><Relationship Type="http://schemas.openxmlformats.org/officeDocument/2006/relationships/officeDocument" Target="/ppt/presentation.xml" Id="R1a0a1c0e9392453e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f9e08c2931ed4d54"/>
  </p:sldMasterIdLst>
  <p:notesMasterIdLst>
    <p:notesMasterId xmlns:r="http://schemas.openxmlformats.org/officeDocument/2006/relationships" r:id="R277fa2dd59ba464c"/>
  </p:notesMasterIdLst>
  <p:sldIdLst>
    <p:sldId xmlns:r="http://schemas.openxmlformats.org/officeDocument/2006/relationships" id="256" r:id="R27446c79ad314c99"/>
    <p:sldId xmlns:r="http://schemas.openxmlformats.org/officeDocument/2006/relationships" id="257" r:id="Rd03be949e9ba4cce"/>
    <p:sldId xmlns:r="http://schemas.openxmlformats.org/officeDocument/2006/relationships" id="258" r:id="R7b22cbbb8861417b"/>
    <p:sldId xmlns:r="http://schemas.openxmlformats.org/officeDocument/2006/relationships" id="259" r:id="R3c87cff49b2a4491"/>
    <p:sldId xmlns:r="http://schemas.openxmlformats.org/officeDocument/2006/relationships" id="260" r:id="R682addfa92264bda"/>
    <p:sldId xmlns:r="http://schemas.openxmlformats.org/officeDocument/2006/relationships" id="261" r:id="R5aba78611aa7417c"/>
    <p:sldId xmlns:r="http://schemas.openxmlformats.org/officeDocument/2006/relationships" id="262" r:id="R166c9351f75c4088"/>
    <p:sldId xmlns:r="http://schemas.openxmlformats.org/officeDocument/2006/relationships" id="263" r:id="R7f6d90d67f3545cf"/>
    <p:sldId xmlns:r="http://schemas.openxmlformats.org/officeDocument/2006/relationships" id="264" r:id="R6d23d507b48041b9"/>
  </p:sldIdLst>
  <p:sldSz cx="12192000" cy="6858000"/>
  <p:notesSz cx="6858000" cy="9144000"/>
  <p:embeddedFontLst>
    <p:embeddedFont>
      <p:font typeface="Inter"/>
      <p:regular xmlns:r="http://schemas.openxmlformats.org/officeDocument/2006/relationships" r:id="Raafcca316be34593"/>
      <p:bold xmlns:r="http://schemas.openxmlformats.org/officeDocument/2006/relationships" r:id="Rffa259f9a061477c"/>
    </p:embeddedFont>
    <p:embeddedFont>
      <p:font typeface="Inter Medium"/>
      <p:regular xmlns:r="http://schemas.openxmlformats.org/officeDocument/2006/relationships" r:id="Rdcdaeb69715849fb"/>
    </p:embeddedFont>
    <p:embeddedFont>
      <p:font typeface="Inter SemiBold"/>
      <p:regular xmlns:r="http://schemas.openxmlformats.org/officeDocument/2006/relationships" r:id="Rb2284b43a3944623"/>
      <p:bold xmlns:r="http://schemas.openxmlformats.org/officeDocument/2006/relationships" r:id="R764facf00274437e"/>
    </p:embeddedFont>
    <p:embeddedFont>
      <p:font typeface="OpenAI Sans"/>
      <p:regular xmlns:r="http://schemas.openxmlformats.org/officeDocument/2006/relationships" r:id="R3de83f6d141b4a96"/>
      <p:bold xmlns:r="http://schemas.openxmlformats.org/officeDocument/2006/relationships" r:id="R98d17dbb227a4539"/>
      <p:italic xmlns:r="http://schemas.openxmlformats.org/officeDocument/2006/relationships" r:id="R3b44dee567024da3"/>
      <p:boldItalic xmlns:r="http://schemas.openxmlformats.org/officeDocument/2006/relationships" r:id="Ref33c87c15cd4669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a1cd6fb67a642dc" /><Relationship Type="http://schemas.openxmlformats.org/officeDocument/2006/relationships/slideMaster" Target="/ppt/slideMasters/slideMaster1.xml" Id="Rf9e08c2931ed4d54" /><Relationship Type="http://schemas.openxmlformats.org/officeDocument/2006/relationships/notesMaster" Target="/ppt/notesMasters/notesMaster1.xml" Id="R277fa2dd59ba464c" /><Relationship Type="http://schemas.openxmlformats.org/officeDocument/2006/relationships/presProps" Target="/ppt/presProps.xml" Id="R2bc71d7d5b894d1f" /><Relationship Type="http://schemas.openxmlformats.org/officeDocument/2006/relationships/viewProps" Target="/ppt/viewProps.xml" Id="R15a46e2c4de24e87" /><Relationship Type="http://schemas.openxmlformats.org/officeDocument/2006/relationships/tableStyles" Target="/ppt/tableStyles.xml" Id="R678483c908774f40" /><Relationship Type="http://schemas.openxmlformats.org/officeDocument/2006/relationships/font" Target="/ppt/fonts/font.dat" Id="Raafcca316be34593" /><Relationship Type="http://schemas.openxmlformats.org/officeDocument/2006/relationships/font" Target="/ppt/fonts/font2.dat" Id="Rffa259f9a061477c" /><Relationship Type="http://schemas.openxmlformats.org/officeDocument/2006/relationships/font" Target="/ppt/fonts/font3.dat" Id="Rdcdaeb69715849fb" /><Relationship Type="http://schemas.openxmlformats.org/officeDocument/2006/relationships/font" Target="/ppt/fonts/font4.dat" Id="Rb2284b43a3944623" /><Relationship Type="http://schemas.openxmlformats.org/officeDocument/2006/relationships/font" Target="/ppt/fonts/font5.dat" Id="R764facf00274437e" /><Relationship Type="http://schemas.openxmlformats.org/officeDocument/2006/relationships/font" Target="/ppt/fonts/font6.dat" Id="R3de83f6d141b4a96" /><Relationship Type="http://schemas.openxmlformats.org/officeDocument/2006/relationships/font" Target="/ppt/fonts/font7.dat" Id="R98d17dbb227a4539" /><Relationship Type="http://schemas.openxmlformats.org/officeDocument/2006/relationships/font" Target="/ppt/fonts/font8.dat" Id="R3b44dee567024da3" /><Relationship Type="http://schemas.openxmlformats.org/officeDocument/2006/relationships/font" Target="/ppt/fonts/font9.dat" Id="Ref33c87c15cd4669" /><Relationship Type="http://schemas.openxmlformats.org/officeDocument/2006/relationships/slide" Target="/ppt/slides/slide1.xml" Id="R27446c79ad314c99" /><Relationship Type="http://schemas.openxmlformats.org/officeDocument/2006/relationships/slide" Target="/ppt/slides/slide2.xml" Id="Rd03be949e9ba4cce" /><Relationship Type="http://schemas.openxmlformats.org/officeDocument/2006/relationships/slide" Target="/ppt/slides/slide3.xml" Id="R7b22cbbb8861417b" /><Relationship Type="http://schemas.openxmlformats.org/officeDocument/2006/relationships/slide" Target="/ppt/slides/slide4.xml" Id="R3c87cff49b2a4491" /><Relationship Type="http://schemas.openxmlformats.org/officeDocument/2006/relationships/slide" Target="/ppt/slides/slide5.xml" Id="R682addfa92264bda" /><Relationship Type="http://schemas.openxmlformats.org/officeDocument/2006/relationships/slide" Target="/ppt/slides/slide6.xml" Id="R5aba78611aa7417c" /><Relationship Type="http://schemas.openxmlformats.org/officeDocument/2006/relationships/slide" Target="/ppt/slides/slide7.xml" Id="R166c9351f75c4088" /><Relationship Type="http://schemas.openxmlformats.org/officeDocument/2006/relationships/slide" Target="/ppt/slides/slide8.xml" Id="R7f6d90d67f3545cf" /><Relationship Type="http://schemas.openxmlformats.org/officeDocument/2006/relationships/slide" Target="/ppt/slides/slide9.xml" Id="R6d23d507b48041b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e902f67afc4430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dk1" tx1="lt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Default Codex Theme">
  <a:themeElements>
    <a:clrScheme name="Codex Colors">
      <a:dk1>
        <a:srgbClr val="000000"/>
      </a:dk1>
      <a:lt1>
        <a:srgbClr val="FFFFFF"/>
      </a:lt1>
      <a:dk2>
        <a:srgbClr val="00264F"/>
      </a:dk2>
      <a:lt2>
        <a:srgbClr val="D0EDFA"/>
      </a:lt2>
      <a:accent1>
        <a:srgbClr val="6DCBF4"/>
      </a:accent1>
      <a:accent2>
        <a:srgbClr val="3D8DFF"/>
      </a:accent2>
      <a:accent3>
        <a:srgbClr val="47E2C2"/>
      </a:accent3>
      <a:accent4>
        <a:srgbClr val="85DF7B"/>
      </a:accent4>
      <a:accent5>
        <a:srgbClr val="F7CB59"/>
      </a:accent5>
      <a:accent6>
        <a:srgbClr val="F67576"/>
      </a:accent6>
      <a:hlink>
        <a:srgbClr val="000000"/>
      </a:hlink>
      <a:folHlink>
        <a:srgbClr val="0097A7"/>
      </a:folHlink>
    </a:clrScheme>
    <a:fontScheme name="Inter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Codex Color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c10b57b888040b0" /><Relationship Type="http://schemas.openxmlformats.org/officeDocument/2006/relationships/notesMaster" Target="/ppt/notesMasters/notesMaster1.xml" Id="R3029ee6416fe4ec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64ab91466d0436f" /><Relationship Type="http://schemas.openxmlformats.org/officeDocument/2006/relationships/notesMaster" Target="/ppt/notesMasters/notesMaster1.xml" Id="R06d78a4061ee404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b516c2bb710450e" /><Relationship Type="http://schemas.openxmlformats.org/officeDocument/2006/relationships/notesMaster" Target="/ppt/notesMasters/notesMaster1.xml" Id="R9e6402532cbd411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599f7b13b8e47b1" /><Relationship Type="http://schemas.openxmlformats.org/officeDocument/2006/relationships/notesMaster" Target="/ppt/notesMasters/notesMaster1.xml" Id="R20d2e55dc49047a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dfa0de872ce4fd1" /><Relationship Type="http://schemas.openxmlformats.org/officeDocument/2006/relationships/notesMaster" Target="/ppt/notesMasters/notesMaster1.xml" Id="R16060bd5143d40a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0e4c33072874c36" /><Relationship Type="http://schemas.openxmlformats.org/officeDocument/2006/relationships/notesMaster" Target="/ppt/notesMasters/notesMaster1.xml" Id="R954353b03362482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e43416cafa743aa" /><Relationship Type="http://schemas.openxmlformats.org/officeDocument/2006/relationships/notesMaster" Target="/ppt/notesMasters/notesMaster1.xml" Id="Rcdf8a909d9334b0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021f714d4b24879" /><Relationship Type="http://schemas.openxmlformats.org/officeDocument/2006/relationships/notesMaster" Target="/ppt/notesMasters/notesMaster1.xml" Id="Rdf1ef34dbb6448c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2d111e1f8554dd5" /><Relationship Type="http://schemas.openxmlformats.org/officeDocument/2006/relationships/notesMaster" Target="/ppt/notesMasters/notesMaster1.xml" Id="Rde634790d05d491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Current overview derived from validated stored history. As of 2026-12-01T09:00:00-06:00. This is not live CRM data.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Account: Terrapin Touring Co. (0015g00002ABCDeAAH)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Latest handoff: terrapin-2026-12-01-implementation-cs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[S1] Original source ID: ownership-december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Fictional internal handoff record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Location: snapshots/2026-12-01-implementation-transfer.json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Record: mock-ownership-2026-12-01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Date: 2026-12-01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Excerpt: The November 30 implementation review confirms all six venues reporting and 96% of priority alerts within 15 minutes. The December 18 investigation-time target remains due. Training and QBR dates are Not Confirmed.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SHA-256: 918fbd3434dd6572e0b8b6952e4fa410f023669bf7526e2b63c739673803f6f1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[S2] Original source ID: account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CRM snapshot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Location: snapshots/ready/Account.csv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Record: 0015g00002ABCDeAAH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Date: 2026-09-16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Excerpt: Standardize security operations across six acquired venues and improve executive reporting.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SHA-256: 5ab777a31b94d8506b695c60c417068ff154e5a54fcbc480079d131cbb5a3ea0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[S3] Original source ID: confirmation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Sales Notes snapshot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Location: snapshots/ready/SalesNotes.csv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Record: a0N5g00001NOTE04AAH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Date: 2026-09-10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Excerpt: Scarlet explicitly accepted executive sponsorship and will resolve cross-team escalations. Casey remains technical owner. Scarlet, Casey, and the Wall of Sound implementation lead agreed the rollout plan and planning-support scope: Casey sends identity-team notice by 2026-09-18, providing at least two weeks before SSO validation on 2026-10-02. Corporate pilot begins 2026-10-05; venue rollout begins 2026-11-02 and finishes 2026-11-30. SSO must pass before broad rollout. They agreed that by 2026-11-30 all six venues will report to one dashboard and at least 95% of priority alerts will appear within 15 minutes. By 2026-12-18 mean investigation time must be at most 42 minutes against the agreed 60-minute baseline. The implementation lead accepted initial rollout-planning assistance. Casey will schedule kickoff by 2026-09-17. These specific agreements resolve the open timeline and success-metric questions in the earlier notes.</a:t>
            </a:r>
            <a:endParaRPr/>
          </a:p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SHA-256: 172565c494ad895dc163b4f56ac440e6fbe8ce1c7bad2143f516af8b5602bfee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Current overview derived from validated stored history. As of 2026-12-01T09:00:00-06:00. This is not live CRM data.</a:t>
            </a:r>
          </a:p>
          <a:p xmlns:a="http://schemas.openxmlformats.org/drawingml/2006/main">
            <a:r>
              <a:t>Account: Terrapin Touring Co. (0015g00002ABCDeAAH)</a:t>
            </a:r>
          </a:p>
          <a:p xmlns:a="http://schemas.openxmlformats.org/drawingml/2006/main">
            <a:r>
              <a:t>Latest handoff: terrapin-2026-12-01-implementation-cs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[S1] Original source ID: ownership-december</a:t>
            </a:r>
          </a:p>
          <a:p xmlns:a="http://schemas.openxmlformats.org/drawingml/2006/main">
            <a:r>
              <a:t>Fictional internal handoff record</a:t>
            </a:r>
          </a:p>
          <a:p xmlns:a="http://schemas.openxmlformats.org/drawingml/2006/main">
            <a:r>
              <a:t>Location: snapshots/2026-12-01-implementation-transfer.json</a:t>
            </a:r>
          </a:p>
          <a:p xmlns:a="http://schemas.openxmlformats.org/drawingml/2006/main">
            <a:r>
              <a:t>Record: mock-ownership-2026-12-01</a:t>
            </a:r>
          </a:p>
          <a:p xmlns:a="http://schemas.openxmlformats.org/drawingml/2006/main">
            <a:r>
              <a:t>Date: 2026-12-01</a:t>
            </a:r>
          </a:p>
          <a:p xmlns:a="http://schemas.openxmlformats.org/drawingml/2006/main">
            <a:r>
              <a:t>Excerpt: The November 30 implementation review confirms all six venues reporting and 96% of priority alerts within 15 minutes. The December 18 investigation-time target remains due. Training and QBR dates are Not Confirmed.</a:t>
            </a:r>
          </a:p>
          <a:p xmlns:a="http://schemas.openxmlformats.org/drawingml/2006/main">
            <a:r>
              <a:t>SHA-256: 918fbd3434dd6572e0b8b6952e4fa410f023669bf7526e2b63c739673803f6f1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[S2] Original source ID: account</a:t>
            </a:r>
          </a:p>
          <a:p xmlns:a="http://schemas.openxmlformats.org/drawingml/2006/main">
            <a:r>
              <a:t>CRM snapshot</a:t>
            </a:r>
          </a:p>
          <a:p xmlns:a="http://schemas.openxmlformats.org/drawingml/2006/main">
            <a:r>
              <a:t>Location: snapshots/ready/Account.csv</a:t>
            </a:r>
          </a:p>
          <a:p xmlns:a="http://schemas.openxmlformats.org/drawingml/2006/main">
            <a:r>
              <a:t>Record: 0015g00002ABCDeAAH</a:t>
            </a:r>
          </a:p>
          <a:p xmlns:a="http://schemas.openxmlformats.org/drawingml/2006/main">
            <a:r>
              <a:t>Date: 2026-09-16</a:t>
            </a:r>
          </a:p>
          <a:p xmlns:a="http://schemas.openxmlformats.org/drawingml/2006/main">
            <a:r>
              <a:t>Excerpt: Standardize security operations across six acquired venues and improve executive reporting.</a:t>
            </a:r>
          </a:p>
          <a:p xmlns:a="http://schemas.openxmlformats.org/drawingml/2006/main">
            <a:r>
              <a:t>SHA-256: 5ab777a31b94d8506b695c60c417068ff154e5a54fcbc480079d131cbb5a3ea0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[S3] Original source ID: confirmation</a:t>
            </a:r>
          </a:p>
          <a:p xmlns:a="http://schemas.openxmlformats.org/drawingml/2006/main">
            <a:r>
              <a:t>Sales Notes snapshot</a:t>
            </a:r>
          </a:p>
          <a:p xmlns:a="http://schemas.openxmlformats.org/drawingml/2006/main">
            <a:r>
              <a:t>Location: snapshots/ready/SalesNotes.csv</a:t>
            </a:r>
          </a:p>
          <a:p xmlns:a="http://schemas.openxmlformats.org/drawingml/2006/main">
            <a:r>
              <a:t>Record: a0N5g00001NOTE04AAH</a:t>
            </a:r>
          </a:p>
          <a:p xmlns:a="http://schemas.openxmlformats.org/drawingml/2006/main">
            <a:r>
              <a:t>Date: 2026-09-10</a:t>
            </a:r>
          </a:p>
          <a:p xmlns:a="http://schemas.openxmlformats.org/drawingml/2006/main">
            <a:r>
              <a:t>Excerpt: Scarlet explicitly accepted executive sponsorship and will resolve cross-team escalations. Casey remains technical owner. Scarlet, Casey, and the Wall of Sound implementation lead agreed the rollout plan and planning-support scope: Casey sends identity-team notice by 2026-09-18, providing at least two weeks before SSO validation on 2026-10-02. Corporate pilot begins 2026-10-05; venue rollout begins 2026-11-02 and finishes 2026-11-30. SSO must pass before broad rollout. They agreed that by 2026-11-30 all six venues will report to one dashboard and at least 95% of priority alerts will appear within 15 minutes. By 2026-12-18 mean investigation time must be at most 42 minutes against the agreed 60-minute baseline. The implementation lead accepted initial rollout-planning assistance. Casey will schedule kickoff by 2026-09-17. These specific agreements resolve the open timeline and success-metric questions in the earlier notes.</a:t>
            </a:r>
          </a:p>
          <a:p xmlns:a="http://schemas.openxmlformats.org/drawingml/2006/main">
            <a:r>
              <a:t>SHA-256: 172565c494ad895dc163b4f56ac440e6fbe8ce1c7bad2143f516af8b5602bfee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Outstanding actions as of 2026-12-01T09:00:00-06:00. These are the most recent recorded action states across every stored handoff. An action stays open until a later event explicitly changes its status.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Action terrapin-investigation-target</a:t>
            </a:r>
          </a:p>
          <a:p xmlns:a="http://schemas.openxmlformats.org/drawingml/2006/main">
            <a:r>
              <a:t>Originating handoff: terrapin-2026-09-16-sales-implementation</a:t>
            </a:r>
          </a:p>
          <a:p xmlns:a="http://schemas.openxmlformats.org/drawingml/2006/main">
            <a:r>
              <a:t>Last update: terrapin-2026-09-16-sales-implementation</a:t>
            </a:r>
          </a:p>
          <a:p xmlns:a="http://schemas.openxmlformats.org/drawingml/2006/main">
            <a:r>
              <a:t>Verify mean investigation time ≤42 minutes against the agreed 60-minute baseline.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Action terrapin-training</a:t>
            </a:r>
          </a:p>
          <a:p xmlns:a="http://schemas.openxmlformats.org/drawingml/2006/main">
            <a:r>
              <a:t>Originating handoff: terrapin-2026-12-01-implementation-cs</a:t>
            </a:r>
          </a:p>
          <a:p xmlns:a="http://schemas.openxmlformats.org/drawingml/2006/main">
            <a:r>
              <a:t>Last update: terrapin-2026-12-01-implementation-cs</a:t>
            </a:r>
          </a:p>
          <a:p xmlns:a="http://schemas.openxmlformats.org/drawingml/2006/main">
            <a:r>
              <a:t>Confirm the customer training session and record the agreed date.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Action terrapin-qbr</a:t>
            </a:r>
          </a:p>
          <a:p xmlns:a="http://schemas.openxmlformats.org/drawingml/2006/main">
            <a:r>
              <a:t>Originating handoff: terrapin-2026-12-01-implementation-cs</a:t>
            </a:r>
          </a:p>
          <a:p xmlns:a="http://schemas.openxmlformats.org/drawingml/2006/main">
            <a:r>
              <a:t>Last update: terrapin-2026-12-01-implementation-cs</a:t>
            </a:r>
          </a:p>
          <a:p xmlns:a="http://schemas.openxmlformats.org/drawingml/2006/main">
            <a:r>
              <a:t>Confirm the first QBR date with the customer.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[S1] Original source ID: confirmation</a:t>
            </a:r>
          </a:p>
          <a:p xmlns:a="http://schemas.openxmlformats.org/drawingml/2006/main">
            <a:r>
              <a:t>Sales Notes snapshot</a:t>
            </a:r>
          </a:p>
          <a:p xmlns:a="http://schemas.openxmlformats.org/drawingml/2006/main">
            <a:r>
              <a:t>Location: snapshots/ready/SalesNotes.csv</a:t>
            </a:r>
          </a:p>
          <a:p xmlns:a="http://schemas.openxmlformats.org/drawingml/2006/main">
            <a:r>
              <a:t>Record: a0N5g00001NOTE04AAH</a:t>
            </a:r>
          </a:p>
          <a:p xmlns:a="http://schemas.openxmlformats.org/drawingml/2006/main">
            <a:r>
              <a:t>Date: 2026-09-10</a:t>
            </a:r>
          </a:p>
          <a:p xmlns:a="http://schemas.openxmlformats.org/drawingml/2006/main">
            <a:r>
              <a:t>Excerpt: Scarlet explicitly accepted executive sponsorship and will resolve cross-team escalations. Casey remains technical owner. Scarlet, Casey, and the Wall of Sound implementation lead agreed the rollout plan and planning-support scope: Casey sends identity-team notice by 2026-09-18, providing at least two weeks before SSO validation on 2026-10-02. Corporate pilot begins 2026-10-05; venue rollout begins 2026-11-02 and finishes 2026-11-30. SSO must pass before broad rollout. They agreed that by 2026-11-30 all six venues will report to one dashboard and at least 95% of priority alerts will appear within 15 minutes. By 2026-12-18 mean investigation time must be at most 42 minutes against the agreed 60-minute baseline. The implementation lead accepted initial rollout-planning assistance. Casey will schedule kickoff by 2026-09-17. These specific agreements resolve the open timeline and success-metric questions in the earlier notes.</a:t>
            </a:r>
          </a:p>
          <a:p xmlns:a="http://schemas.openxmlformats.org/drawingml/2006/main">
            <a:r>
              <a:t>SHA-256: 172565c494ad895dc163b4f56ac440e6fbe8ce1c7bad2143f516af8b5602bfee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[S2] Original source ID: ownership-september</a:t>
            </a:r>
          </a:p>
          <a:p xmlns:a="http://schemas.openxmlformats.org/drawingml/2006/main">
            <a:r>
              <a:t>Fictional internal handoff record</a:t>
            </a:r>
          </a:p>
          <a:p xmlns:a="http://schemas.openxmlformats.org/drawingml/2006/main">
            <a:r>
              <a:t>Location: snapshots/2026-09-16-ownership.json</a:t>
            </a:r>
          </a:p>
          <a:p xmlns:a="http://schemas.openxmlformats.org/drawingml/2006/main">
            <a:r>
              <a:t>Record: mock-ownership-2026-09-16</a:t>
            </a:r>
          </a:p>
          <a:p xmlns:a="http://schemas.openxmlformats.org/drawingml/2006/main">
            <a:r>
              <a:t>Date: 2026-09-16</a:t>
            </a:r>
          </a:p>
          <a:p xmlns:a="http://schemas.openxmlformats.org/drawingml/2006/main">
            <a:r>
              <a:t>Excerpt: Samson Delilah transfers internal account ownership to Ruben Cherise in Implementation on September 16, 2026.</a:t>
            </a:r>
          </a:p>
          <a:p xmlns:a="http://schemas.openxmlformats.org/drawingml/2006/main">
            <a:r>
              <a:t>SHA-256: 3dc5ef097a53439e3b86a5cd1f2921e75c03ca31e38c8a06403113b9bc4b2b7c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[S3] Original source ID: ownership-december</a:t>
            </a:r>
          </a:p>
          <a:p xmlns:a="http://schemas.openxmlformats.org/drawingml/2006/main">
            <a:r>
              <a:t>Fictional internal handoff record</a:t>
            </a:r>
          </a:p>
          <a:p xmlns:a="http://schemas.openxmlformats.org/drawingml/2006/main">
            <a:r>
              <a:t>Location: snapshots/2026-12-01-implementation-transfer.json</a:t>
            </a:r>
          </a:p>
          <a:p xmlns:a="http://schemas.openxmlformats.org/drawingml/2006/main">
            <a:r>
              <a:t>Record: mock-ownership-2026-12-01</a:t>
            </a:r>
          </a:p>
          <a:p xmlns:a="http://schemas.openxmlformats.org/drawingml/2006/main">
            <a:r>
              <a:t>Date: 2026-12-01</a:t>
            </a:r>
          </a:p>
          <a:p xmlns:a="http://schemas.openxmlformats.org/drawingml/2006/main">
            <a:r>
              <a:t>Excerpt: The November 30 implementation review confirms all six venues reporting and 96% of priority alerts within 15 minutes. The December 18 investigation-time target remains due. Training and QBR dates are Not Confirmed.</a:t>
            </a:r>
          </a:p>
          <a:p xmlns:a="http://schemas.openxmlformats.org/drawingml/2006/main">
            <a:r>
              <a:t>SHA-256: 918fbd3434dd6572e0b8b6952e4fa410f023669bf7526e2b63c739673803f6f1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Historical snapshot: terrapin-2026-09-16-sales-implementation</a:t>
            </a:r>
          </a:p>
          <a:p xmlns:a="http://schemas.openxmlformats.org/drawingml/2006/main">
            <a:r>
              <a:t>Effective: 2026-09-16T09:00:00-05:00</a:t>
            </a:r>
          </a:p>
          <a:p xmlns:a="http://schemas.openxmlformats.org/drawingml/2006/main">
            <a:r>
              <a:t>Recorded: 2026-09-16T10:00:00-05:00</a:t>
            </a:r>
          </a:p>
          <a:p xmlns:a="http://schemas.openxmlformats.org/drawingml/2006/main">
            <a:r>
              <a:t>Type: sales_to_implementation</a:t>
            </a:r>
          </a:p>
          <a:p xmlns:a="http://schemas.openxmlformats.org/drawingml/2006/main">
            <a:r>
              <a:t>Policy: Sales handoff policy. Sales baseline checks structured prerequisites; internal transfers use a separate receiving-team assessment.</a:t>
            </a:r>
          </a:p>
          <a:p xmlns:a="http://schemas.openxmlformats.org/drawingml/2006/main">
            <a:r>
              <a:t>These statements and action statuses describe the handoff at this point in time. Later events do not change this snapshot.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[S1] Original source ID: ownership-september</a:t>
            </a:r>
          </a:p>
          <a:p xmlns:a="http://schemas.openxmlformats.org/drawingml/2006/main">
            <a:r>
              <a:t>Fictional internal handoff record</a:t>
            </a:r>
          </a:p>
          <a:p xmlns:a="http://schemas.openxmlformats.org/drawingml/2006/main">
            <a:r>
              <a:t>Location: snapshots/2026-09-16-ownership.json</a:t>
            </a:r>
          </a:p>
          <a:p xmlns:a="http://schemas.openxmlformats.org/drawingml/2006/main">
            <a:r>
              <a:t>Record: mock-ownership-2026-09-16</a:t>
            </a:r>
          </a:p>
          <a:p xmlns:a="http://schemas.openxmlformats.org/drawingml/2006/main">
            <a:r>
              <a:t>Date: 2026-09-16</a:t>
            </a:r>
          </a:p>
          <a:p xmlns:a="http://schemas.openxmlformats.org/drawingml/2006/main">
            <a:r>
              <a:t>Excerpt: Samson Delilah transfers internal account ownership to Ruben Cherise in Implementation on September 16, 2026.</a:t>
            </a:r>
          </a:p>
          <a:p xmlns:a="http://schemas.openxmlformats.org/drawingml/2006/main">
            <a:r>
              <a:t>SHA-256: 3dc5ef097a53439e3b86a5cd1f2921e75c03ca31e38c8a06403113b9bc4b2b7c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[S2] Original source ID: account</a:t>
            </a:r>
          </a:p>
          <a:p xmlns:a="http://schemas.openxmlformats.org/drawingml/2006/main">
            <a:r>
              <a:t>CRM snapshot</a:t>
            </a:r>
          </a:p>
          <a:p xmlns:a="http://schemas.openxmlformats.org/drawingml/2006/main">
            <a:r>
              <a:t>Location: snapshots/ready/Account.csv</a:t>
            </a:r>
          </a:p>
          <a:p xmlns:a="http://schemas.openxmlformats.org/drawingml/2006/main">
            <a:r>
              <a:t>Record: 0015g00002ABCDeAAH</a:t>
            </a:r>
          </a:p>
          <a:p xmlns:a="http://schemas.openxmlformats.org/drawingml/2006/main">
            <a:r>
              <a:t>Date: 2026-09-16</a:t>
            </a:r>
          </a:p>
          <a:p xmlns:a="http://schemas.openxmlformats.org/drawingml/2006/main">
            <a:r>
              <a:t>Excerpt: Standardize security operations across six acquired venues and improve executive reporting.</a:t>
            </a:r>
          </a:p>
          <a:p xmlns:a="http://schemas.openxmlformats.org/drawingml/2006/main">
            <a:r>
              <a:t>SHA-256: 5ab777a31b94d8506b695c60c417068ff154e5a54fcbc480079d131cbb5a3ea0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[S3] Original source ID: opportunity</a:t>
            </a:r>
          </a:p>
          <a:p xmlns:a="http://schemas.openxmlformats.org/drawingml/2006/main">
            <a:r>
              <a:t>CRM snapshot</a:t>
            </a:r>
          </a:p>
          <a:p xmlns:a="http://schemas.openxmlformats.org/drawingml/2006/main">
            <a:r>
              <a:t>Location: snapshots/ready/Opportunity.csv</a:t>
            </a:r>
          </a:p>
          <a:p xmlns:a="http://schemas.openxmlformats.org/drawingml/2006/main">
            <a:r>
              <a:t>Record: 0065g00003OPP001AAH</a:t>
            </a:r>
          </a:p>
          <a:p xmlns:a="http://schemas.openxmlformats.org/drawingml/2006/main">
            <a:r>
              <a:t>Date: 2026-09-16</a:t>
            </a:r>
          </a:p>
          <a:p xmlns:a="http://schemas.openxmlformats.org/drawingml/2006/main">
            <a:r>
              <a:t>Excerpt: Agreed 2026-09-10: identity-team notice by 2026-09-18; SSO validation 2026-10-02; corporate pilot starts 2026-10-05; venue rollout starts 2026-11-02 and completes 2026-11-30.</a:t>
            </a:r>
          </a:p>
          <a:p xmlns:a="http://schemas.openxmlformats.org/drawingml/2006/main">
            <a:r>
              <a:t>SHA-256: a05e8a265a664ea289e796614b9b0ab6c0156f1a4a7f699e4a3250d47f3c0ef1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[S4] Original source ID: confirmation</a:t>
            </a:r>
          </a:p>
          <a:p xmlns:a="http://schemas.openxmlformats.org/drawingml/2006/main">
            <a:r>
              <a:t>Sales Notes snapshot</a:t>
            </a:r>
          </a:p>
          <a:p xmlns:a="http://schemas.openxmlformats.org/drawingml/2006/main">
            <a:r>
              <a:t>Location: snapshots/ready/SalesNotes.csv</a:t>
            </a:r>
          </a:p>
          <a:p xmlns:a="http://schemas.openxmlformats.org/drawingml/2006/main">
            <a:r>
              <a:t>Record: a0N5g00001NOTE04AAH</a:t>
            </a:r>
          </a:p>
          <a:p xmlns:a="http://schemas.openxmlformats.org/drawingml/2006/main">
            <a:r>
              <a:t>Date: 2026-09-10</a:t>
            </a:r>
          </a:p>
          <a:p xmlns:a="http://schemas.openxmlformats.org/drawingml/2006/main">
            <a:r>
              <a:t>Excerpt: Scarlet explicitly accepted executive sponsorship and will resolve cross-team escalations. Casey remains technical owner. Scarlet, Casey, and the Wall of Sound implementation lead agreed the rollout plan and planning-support scope: Casey sends identity-team notice by 2026-09-18, providing at least two weeks before SSO validation on 2026-10-02. Corporate pilot begins 2026-10-05; venue rollout begins 2026-11-02 and finishes 2026-11-30. SSO must pass before broad rollout. They agreed that by 2026-11-30 all six venues will report to one dashboard and at least 95% of priority alerts will appear within 15 minutes. By 2026-12-18 mean investigation time must be at most 42 minutes against the agreed 60-minute baseline. The implementation lead accepted initial rollout-planning assistance. Casey will schedule kickoff by 2026-09-17. These specific agreements resolve the open timeline and success-metric questions in the earlier notes.</a:t>
            </a:r>
          </a:p>
          <a:p xmlns:a="http://schemas.openxmlformats.org/drawingml/2006/main">
            <a:r>
              <a:t>SHA-256: 172565c494ad895dc163b4f56ac440e6fbe8ce1c7bad2143f516af8b5602bfee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[S5] Original source ID: contact-scarlet</a:t>
            </a:r>
          </a:p>
          <a:p xmlns:a="http://schemas.openxmlformats.org/drawingml/2006/main">
            <a:r>
              <a:t>CRM snapshot</a:t>
            </a:r>
          </a:p>
          <a:p xmlns:a="http://schemas.openxmlformats.org/drawingml/2006/main">
            <a:r>
              <a:t>Location: snapshots/ready/Contact.csv</a:t>
            </a:r>
          </a:p>
          <a:p xmlns:a="http://schemas.openxmlformats.org/drawingml/2006/main">
            <a:r>
              <a:t>Record: 0035g00004CON001AAH</a:t>
            </a:r>
          </a:p>
          <a:p xmlns:a="http://schemas.openxmlformats.org/drawingml/2006/main">
            <a:r>
              <a:t>Date: 2026-09-16</a:t>
            </a:r>
          </a:p>
          <a:p xmlns:a="http://schemas.openxmlformats.org/drawingml/2006/main">
            <a:r>
              <a:t>Excerpt: Scarlet Begonia — VP, Information Security</a:t>
            </a:r>
          </a:p>
          <a:p xmlns:a="http://schemas.openxmlformats.org/drawingml/2006/main">
            <a:r>
              <a:t>SHA-256: 11a3a3a9232cfe856976172d0cf58155b7bf25004af587734a8c330bf2994e5a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[S6] Original source ID: contact-casey</a:t>
            </a:r>
          </a:p>
          <a:p xmlns:a="http://schemas.openxmlformats.org/drawingml/2006/main">
            <a:r>
              <a:t>CRM snapshot</a:t>
            </a:r>
          </a:p>
          <a:p xmlns:a="http://schemas.openxmlformats.org/drawingml/2006/main">
            <a:r>
              <a:t>Location: snapshots/ready/Contact.csv</a:t>
            </a:r>
          </a:p>
          <a:p xmlns:a="http://schemas.openxmlformats.org/drawingml/2006/main">
            <a:r>
              <a:t>Record: 0035g00004CON002AAH</a:t>
            </a:r>
          </a:p>
          <a:p xmlns:a="http://schemas.openxmlformats.org/drawingml/2006/main">
            <a:r>
              <a:t>Date: 2026-09-16</a:t>
            </a:r>
          </a:p>
          <a:p xmlns:a="http://schemas.openxmlformats.org/drawingml/2006/main">
            <a:r>
              <a:t>Excerpt: Casey Jones — Director, Security Engineering</a:t>
            </a:r>
          </a:p>
          <a:p xmlns:a="http://schemas.openxmlformats.org/drawingml/2006/main">
            <a:r>
              <a:t>SHA-256: 11a3a3a9232cfe856976172d0cf58155b7bf25004af587734a8c330bf2994e5a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[S7] Original source ID: contact-jack</a:t>
            </a:r>
          </a:p>
          <a:p xmlns:a="http://schemas.openxmlformats.org/drawingml/2006/main">
            <a:r>
              <a:t>CRM snapshot</a:t>
            </a:r>
          </a:p>
          <a:p xmlns:a="http://schemas.openxmlformats.org/drawingml/2006/main">
            <a:r>
              <a:t>Location: snapshots/ready/Contact.csv</a:t>
            </a:r>
          </a:p>
          <a:p xmlns:a="http://schemas.openxmlformats.org/drawingml/2006/main">
            <a:r>
              <a:t>Record: 0035g00004CON003AAH</a:t>
            </a:r>
          </a:p>
          <a:p xmlns:a="http://schemas.openxmlformats.org/drawingml/2006/main">
            <a:r>
              <a:t>Date: 2026-09-16</a:t>
            </a:r>
          </a:p>
          <a:p xmlns:a="http://schemas.openxmlformats.org/drawingml/2006/main">
            <a:r>
              <a:t>Excerpt: Jack Straw — Procurement Manager</a:t>
            </a:r>
          </a:p>
          <a:p xmlns:a="http://schemas.openxmlformats.org/drawingml/2006/main">
            <a:r>
              <a:t>SHA-256: 11a3a3a9232cfe856976172d0cf58155b7bf25004af587734a8c330bf2994e5a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Historical snapshot: terrapin-2026-09-16-sales-implementation</a:t>
            </a:r>
          </a:p>
          <a:p xmlns:a="http://schemas.openxmlformats.org/drawingml/2006/main">
            <a:r>
              <a:t>Effective: 2026-09-16T09:00:00-05:00</a:t>
            </a:r>
          </a:p>
          <a:p xmlns:a="http://schemas.openxmlformats.org/drawingml/2006/main">
            <a:r>
              <a:t>Recorded: 2026-09-16T10:00:00-05:00</a:t>
            </a:r>
          </a:p>
          <a:p xmlns:a="http://schemas.openxmlformats.org/drawingml/2006/main">
            <a:r>
              <a:t>Type: sales_to_implementation</a:t>
            </a:r>
          </a:p>
          <a:p xmlns:a="http://schemas.openxmlformats.org/drawingml/2006/main">
            <a:r>
              <a:t>Policy: Sales handoff policy. Sales baseline checks structured prerequisites; internal transfers use a separate receiving-team assessment.</a:t>
            </a:r>
          </a:p>
          <a:p xmlns:a="http://schemas.openxmlformats.org/drawingml/2006/main">
            <a:r>
              <a:t>These statements and action statuses describe the handoff at this point in time. Later events do not change this snapshot.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[S1] Original source ID: ownership-september</a:t>
            </a:r>
          </a:p>
          <a:p xmlns:a="http://schemas.openxmlformats.org/drawingml/2006/main">
            <a:r>
              <a:t>Fictional internal handoff record</a:t>
            </a:r>
          </a:p>
          <a:p xmlns:a="http://schemas.openxmlformats.org/drawingml/2006/main">
            <a:r>
              <a:t>Location: snapshots/2026-09-16-ownership.json</a:t>
            </a:r>
          </a:p>
          <a:p xmlns:a="http://schemas.openxmlformats.org/drawingml/2006/main">
            <a:r>
              <a:t>Record: mock-ownership-2026-09-16</a:t>
            </a:r>
          </a:p>
          <a:p xmlns:a="http://schemas.openxmlformats.org/drawingml/2006/main">
            <a:r>
              <a:t>Date: 2026-09-16</a:t>
            </a:r>
          </a:p>
          <a:p xmlns:a="http://schemas.openxmlformats.org/drawingml/2006/main">
            <a:r>
              <a:t>Excerpt: Samson Delilah transfers internal account ownership to Ruben Cherise in Implementation on September 16, 2026.</a:t>
            </a:r>
          </a:p>
          <a:p xmlns:a="http://schemas.openxmlformats.org/drawingml/2006/main">
            <a:r>
              <a:t>SHA-256: 3dc5ef097a53439e3b86a5cd1f2921e75c03ca31e38c8a06403113b9bc4b2b7c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[S2] Original source ID: account</a:t>
            </a:r>
          </a:p>
          <a:p xmlns:a="http://schemas.openxmlformats.org/drawingml/2006/main">
            <a:r>
              <a:t>CRM snapshot</a:t>
            </a:r>
          </a:p>
          <a:p xmlns:a="http://schemas.openxmlformats.org/drawingml/2006/main">
            <a:r>
              <a:t>Location: snapshots/ready/Account.csv</a:t>
            </a:r>
          </a:p>
          <a:p xmlns:a="http://schemas.openxmlformats.org/drawingml/2006/main">
            <a:r>
              <a:t>Record: 0015g00002ABCDeAAH</a:t>
            </a:r>
          </a:p>
          <a:p xmlns:a="http://schemas.openxmlformats.org/drawingml/2006/main">
            <a:r>
              <a:t>Date: 2026-09-16</a:t>
            </a:r>
          </a:p>
          <a:p xmlns:a="http://schemas.openxmlformats.org/drawingml/2006/main">
            <a:r>
              <a:t>Excerpt: Standardize security operations across six acquired venues and improve executive reporting.</a:t>
            </a:r>
          </a:p>
          <a:p xmlns:a="http://schemas.openxmlformats.org/drawingml/2006/main">
            <a:r>
              <a:t>SHA-256: 5ab777a31b94d8506b695c60c417068ff154e5a54fcbc480079d131cbb5a3ea0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[S3] Original source ID: opportunity</a:t>
            </a:r>
          </a:p>
          <a:p xmlns:a="http://schemas.openxmlformats.org/drawingml/2006/main">
            <a:r>
              <a:t>CRM snapshot</a:t>
            </a:r>
          </a:p>
          <a:p xmlns:a="http://schemas.openxmlformats.org/drawingml/2006/main">
            <a:r>
              <a:t>Location: snapshots/ready/Opportunity.csv</a:t>
            </a:r>
          </a:p>
          <a:p xmlns:a="http://schemas.openxmlformats.org/drawingml/2006/main">
            <a:r>
              <a:t>Record: 0065g00003OPP001AAH</a:t>
            </a:r>
          </a:p>
          <a:p xmlns:a="http://schemas.openxmlformats.org/drawingml/2006/main">
            <a:r>
              <a:t>Date: 2026-09-16</a:t>
            </a:r>
          </a:p>
          <a:p xmlns:a="http://schemas.openxmlformats.org/drawingml/2006/main">
            <a:r>
              <a:t>Excerpt: Agreed 2026-09-10: identity-team notice by 2026-09-18; SSO validation 2026-10-02; corporate pilot starts 2026-10-05; venue rollout starts 2026-11-02 and completes 2026-11-30.</a:t>
            </a:r>
          </a:p>
          <a:p xmlns:a="http://schemas.openxmlformats.org/drawingml/2006/main">
            <a:r>
              <a:t>SHA-256: a05e8a265a664ea289e796614b9b0ab6c0156f1a4a7f699e4a3250d47f3c0ef1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[S4] Original source ID: confirmation</a:t>
            </a:r>
          </a:p>
          <a:p xmlns:a="http://schemas.openxmlformats.org/drawingml/2006/main">
            <a:r>
              <a:t>Sales Notes snapshot</a:t>
            </a:r>
          </a:p>
          <a:p xmlns:a="http://schemas.openxmlformats.org/drawingml/2006/main">
            <a:r>
              <a:t>Location: snapshots/ready/SalesNotes.csv</a:t>
            </a:r>
          </a:p>
          <a:p xmlns:a="http://schemas.openxmlformats.org/drawingml/2006/main">
            <a:r>
              <a:t>Record: a0N5g00001NOTE04AAH</a:t>
            </a:r>
          </a:p>
          <a:p xmlns:a="http://schemas.openxmlformats.org/drawingml/2006/main">
            <a:r>
              <a:t>Date: 2026-09-10</a:t>
            </a:r>
          </a:p>
          <a:p xmlns:a="http://schemas.openxmlformats.org/drawingml/2006/main">
            <a:r>
              <a:t>Excerpt: Scarlet explicitly accepted executive sponsorship and will resolve cross-team escalations. Casey remains technical owner. Scarlet, Casey, and the Wall of Sound implementation lead agreed the rollout plan and planning-support scope: Casey sends identity-team notice by 2026-09-18, providing at least two weeks before SSO validation on 2026-10-02. Corporate pilot begins 2026-10-05; venue rollout begins 2026-11-02 and finishes 2026-11-30. SSO must pass before broad rollout. They agreed that by 2026-11-30 all six venues will report to one dashboard and at least 95% of priority alerts will appear within 15 minutes. By 2026-12-18 mean investigation time must be at most 42 minutes against the agreed 60-minute baseline. The implementation lead accepted initial rollout-planning assistance. Casey will schedule kickoff by 2026-09-17. These specific agreements resolve the open timeline and success-metric questions in the earlier notes.</a:t>
            </a:r>
          </a:p>
          <a:p xmlns:a="http://schemas.openxmlformats.org/drawingml/2006/main">
            <a:r>
              <a:t>SHA-256: 172565c494ad895dc163b4f56ac440e6fbe8ce1c7bad2143f516af8b5602bfee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[S5] Original source ID: contact-scarlet</a:t>
            </a:r>
          </a:p>
          <a:p xmlns:a="http://schemas.openxmlformats.org/drawingml/2006/main">
            <a:r>
              <a:t>CRM snapshot</a:t>
            </a:r>
          </a:p>
          <a:p xmlns:a="http://schemas.openxmlformats.org/drawingml/2006/main">
            <a:r>
              <a:t>Location: snapshots/ready/Contact.csv</a:t>
            </a:r>
          </a:p>
          <a:p xmlns:a="http://schemas.openxmlformats.org/drawingml/2006/main">
            <a:r>
              <a:t>Record: 0035g00004CON001AAH</a:t>
            </a:r>
          </a:p>
          <a:p xmlns:a="http://schemas.openxmlformats.org/drawingml/2006/main">
            <a:r>
              <a:t>Date: 2026-09-16</a:t>
            </a:r>
          </a:p>
          <a:p xmlns:a="http://schemas.openxmlformats.org/drawingml/2006/main">
            <a:r>
              <a:t>Excerpt: Scarlet Begonia — VP, Information Security</a:t>
            </a:r>
          </a:p>
          <a:p xmlns:a="http://schemas.openxmlformats.org/drawingml/2006/main">
            <a:r>
              <a:t>SHA-256: 11a3a3a9232cfe856976172d0cf58155b7bf25004af587734a8c330bf2994e5a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[S6] Original source ID: contact-casey</a:t>
            </a:r>
          </a:p>
          <a:p xmlns:a="http://schemas.openxmlformats.org/drawingml/2006/main">
            <a:r>
              <a:t>CRM snapshot</a:t>
            </a:r>
          </a:p>
          <a:p xmlns:a="http://schemas.openxmlformats.org/drawingml/2006/main">
            <a:r>
              <a:t>Location: snapshots/ready/Contact.csv</a:t>
            </a:r>
          </a:p>
          <a:p xmlns:a="http://schemas.openxmlformats.org/drawingml/2006/main">
            <a:r>
              <a:t>Record: 0035g00004CON002AAH</a:t>
            </a:r>
          </a:p>
          <a:p xmlns:a="http://schemas.openxmlformats.org/drawingml/2006/main">
            <a:r>
              <a:t>Date: 2026-09-16</a:t>
            </a:r>
          </a:p>
          <a:p xmlns:a="http://schemas.openxmlformats.org/drawingml/2006/main">
            <a:r>
              <a:t>Excerpt: Casey Jones — Director, Security Engineering</a:t>
            </a:r>
          </a:p>
          <a:p xmlns:a="http://schemas.openxmlformats.org/drawingml/2006/main">
            <a:r>
              <a:t>SHA-256: 11a3a3a9232cfe856976172d0cf58155b7bf25004af587734a8c330bf2994e5a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[S7] Original source ID: contact-jack</a:t>
            </a:r>
          </a:p>
          <a:p xmlns:a="http://schemas.openxmlformats.org/drawingml/2006/main">
            <a:r>
              <a:t>CRM snapshot</a:t>
            </a:r>
          </a:p>
          <a:p xmlns:a="http://schemas.openxmlformats.org/drawingml/2006/main">
            <a:r>
              <a:t>Location: snapshots/ready/Contact.csv</a:t>
            </a:r>
          </a:p>
          <a:p xmlns:a="http://schemas.openxmlformats.org/drawingml/2006/main">
            <a:r>
              <a:t>Record: 0035g00004CON003AAH</a:t>
            </a:r>
          </a:p>
          <a:p xmlns:a="http://schemas.openxmlformats.org/drawingml/2006/main">
            <a:r>
              <a:t>Date: 2026-09-16</a:t>
            </a:r>
          </a:p>
          <a:p xmlns:a="http://schemas.openxmlformats.org/drawingml/2006/main">
            <a:r>
              <a:t>Excerpt: Jack Straw — Procurement Manager</a:t>
            </a:r>
          </a:p>
          <a:p xmlns:a="http://schemas.openxmlformats.org/drawingml/2006/main">
            <a:r>
              <a:t>SHA-256: 11a3a3a9232cfe856976172d0cf58155b7bf25004af587734a8c330bf2994e5a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Historical snapshot: terrapin-2026-09-16-sales-implementation</a:t>
            </a:r>
          </a:p>
          <a:p xmlns:a="http://schemas.openxmlformats.org/drawingml/2006/main">
            <a:r>
              <a:t>Effective: 2026-09-16T09:00:00-05:00</a:t>
            </a:r>
          </a:p>
          <a:p xmlns:a="http://schemas.openxmlformats.org/drawingml/2006/main">
            <a:r>
              <a:t>Recorded: 2026-09-16T10:00:00-05:00</a:t>
            </a:r>
          </a:p>
          <a:p xmlns:a="http://schemas.openxmlformats.org/drawingml/2006/main">
            <a:r>
              <a:t>Type: sales_to_implementation</a:t>
            </a:r>
          </a:p>
          <a:p xmlns:a="http://schemas.openxmlformats.org/drawingml/2006/main">
            <a:r>
              <a:t>Policy: Sales handoff policy. Sales baseline checks structured prerequisites; internal transfers use a separate receiving-team assessment.</a:t>
            </a:r>
          </a:p>
          <a:p xmlns:a="http://schemas.openxmlformats.org/drawingml/2006/main">
            <a:r>
              <a:t>These statements and action statuses describe the handoff at this point in time. Later events do not change this snapshot.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[S1] Original source ID: ownership-september</a:t>
            </a:r>
          </a:p>
          <a:p xmlns:a="http://schemas.openxmlformats.org/drawingml/2006/main">
            <a:r>
              <a:t>Fictional internal handoff record</a:t>
            </a:r>
          </a:p>
          <a:p xmlns:a="http://schemas.openxmlformats.org/drawingml/2006/main">
            <a:r>
              <a:t>Location: snapshots/2026-09-16-ownership.json</a:t>
            </a:r>
          </a:p>
          <a:p xmlns:a="http://schemas.openxmlformats.org/drawingml/2006/main">
            <a:r>
              <a:t>Record: mock-ownership-2026-09-16</a:t>
            </a:r>
          </a:p>
          <a:p xmlns:a="http://schemas.openxmlformats.org/drawingml/2006/main">
            <a:r>
              <a:t>Date: 2026-09-16</a:t>
            </a:r>
          </a:p>
          <a:p xmlns:a="http://schemas.openxmlformats.org/drawingml/2006/main">
            <a:r>
              <a:t>Excerpt: Samson Delilah transfers internal account ownership to Ruben Cherise in Implementation on September 16, 2026.</a:t>
            </a:r>
          </a:p>
          <a:p xmlns:a="http://schemas.openxmlformats.org/drawingml/2006/main">
            <a:r>
              <a:t>SHA-256: 3dc5ef097a53439e3b86a5cd1f2921e75c03ca31e38c8a06403113b9bc4b2b7c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[S2] Original source ID: account</a:t>
            </a:r>
          </a:p>
          <a:p xmlns:a="http://schemas.openxmlformats.org/drawingml/2006/main">
            <a:r>
              <a:t>CRM snapshot</a:t>
            </a:r>
          </a:p>
          <a:p xmlns:a="http://schemas.openxmlformats.org/drawingml/2006/main">
            <a:r>
              <a:t>Location: snapshots/ready/Account.csv</a:t>
            </a:r>
          </a:p>
          <a:p xmlns:a="http://schemas.openxmlformats.org/drawingml/2006/main">
            <a:r>
              <a:t>Record: 0015g00002ABCDeAAH</a:t>
            </a:r>
          </a:p>
          <a:p xmlns:a="http://schemas.openxmlformats.org/drawingml/2006/main">
            <a:r>
              <a:t>Date: 2026-09-16</a:t>
            </a:r>
          </a:p>
          <a:p xmlns:a="http://schemas.openxmlformats.org/drawingml/2006/main">
            <a:r>
              <a:t>Excerpt: Standardize security operations across six acquired venues and improve executive reporting.</a:t>
            </a:r>
          </a:p>
          <a:p xmlns:a="http://schemas.openxmlformats.org/drawingml/2006/main">
            <a:r>
              <a:t>SHA-256: 5ab777a31b94d8506b695c60c417068ff154e5a54fcbc480079d131cbb5a3ea0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[S3] Original source ID: opportunity</a:t>
            </a:r>
          </a:p>
          <a:p xmlns:a="http://schemas.openxmlformats.org/drawingml/2006/main">
            <a:r>
              <a:t>CRM snapshot</a:t>
            </a:r>
          </a:p>
          <a:p xmlns:a="http://schemas.openxmlformats.org/drawingml/2006/main">
            <a:r>
              <a:t>Location: snapshots/ready/Opportunity.csv</a:t>
            </a:r>
          </a:p>
          <a:p xmlns:a="http://schemas.openxmlformats.org/drawingml/2006/main">
            <a:r>
              <a:t>Record: 0065g00003OPP001AAH</a:t>
            </a:r>
          </a:p>
          <a:p xmlns:a="http://schemas.openxmlformats.org/drawingml/2006/main">
            <a:r>
              <a:t>Date: 2026-09-16</a:t>
            </a:r>
          </a:p>
          <a:p xmlns:a="http://schemas.openxmlformats.org/drawingml/2006/main">
            <a:r>
              <a:t>Excerpt: Agreed 2026-09-10: identity-team notice by 2026-09-18; SSO validation 2026-10-02; corporate pilot starts 2026-10-05; venue rollout starts 2026-11-02 and completes 2026-11-30.</a:t>
            </a:r>
          </a:p>
          <a:p xmlns:a="http://schemas.openxmlformats.org/drawingml/2006/main">
            <a:r>
              <a:t>SHA-256: a05e8a265a664ea289e796614b9b0ab6c0156f1a4a7f699e4a3250d47f3c0ef1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[S4] Original source ID: confirmation</a:t>
            </a:r>
          </a:p>
          <a:p xmlns:a="http://schemas.openxmlformats.org/drawingml/2006/main">
            <a:r>
              <a:t>Sales Notes snapshot</a:t>
            </a:r>
          </a:p>
          <a:p xmlns:a="http://schemas.openxmlformats.org/drawingml/2006/main">
            <a:r>
              <a:t>Location: snapshots/ready/SalesNotes.csv</a:t>
            </a:r>
          </a:p>
          <a:p xmlns:a="http://schemas.openxmlformats.org/drawingml/2006/main">
            <a:r>
              <a:t>Record: a0N5g00001NOTE04AAH</a:t>
            </a:r>
          </a:p>
          <a:p xmlns:a="http://schemas.openxmlformats.org/drawingml/2006/main">
            <a:r>
              <a:t>Date: 2026-09-10</a:t>
            </a:r>
          </a:p>
          <a:p xmlns:a="http://schemas.openxmlformats.org/drawingml/2006/main">
            <a:r>
              <a:t>Excerpt: Scarlet explicitly accepted executive sponsorship and will resolve cross-team escalations. Casey remains technical owner. Scarlet, Casey, and the Wall of Sound implementation lead agreed the rollout plan and planning-support scope: Casey sends identity-team notice by 2026-09-18, providing at least two weeks before SSO validation on 2026-10-02. Corporate pilot begins 2026-10-05; venue rollout begins 2026-11-02 and finishes 2026-11-30. SSO must pass before broad rollout. They agreed that by 2026-11-30 all six venues will report to one dashboard and at least 95% of priority alerts will appear within 15 minutes. By 2026-12-18 mean investigation time must be at most 42 minutes against the agreed 60-minute baseline. The implementation lead accepted initial rollout-planning assistance. Casey will schedule kickoff by 2026-09-17. These specific agreements resolve the open timeline and success-metric questions in the earlier notes.</a:t>
            </a:r>
          </a:p>
          <a:p xmlns:a="http://schemas.openxmlformats.org/drawingml/2006/main">
            <a:r>
              <a:t>SHA-256: 172565c494ad895dc163b4f56ac440e6fbe8ce1c7bad2143f516af8b5602bfee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[S5] Original source ID: contact-scarlet</a:t>
            </a:r>
          </a:p>
          <a:p xmlns:a="http://schemas.openxmlformats.org/drawingml/2006/main">
            <a:r>
              <a:t>CRM snapshot</a:t>
            </a:r>
          </a:p>
          <a:p xmlns:a="http://schemas.openxmlformats.org/drawingml/2006/main">
            <a:r>
              <a:t>Location: snapshots/ready/Contact.csv</a:t>
            </a:r>
          </a:p>
          <a:p xmlns:a="http://schemas.openxmlformats.org/drawingml/2006/main">
            <a:r>
              <a:t>Record: 0035g00004CON001AAH</a:t>
            </a:r>
          </a:p>
          <a:p xmlns:a="http://schemas.openxmlformats.org/drawingml/2006/main">
            <a:r>
              <a:t>Date: 2026-09-16</a:t>
            </a:r>
          </a:p>
          <a:p xmlns:a="http://schemas.openxmlformats.org/drawingml/2006/main">
            <a:r>
              <a:t>Excerpt: Scarlet Begonia — VP, Information Security</a:t>
            </a:r>
          </a:p>
          <a:p xmlns:a="http://schemas.openxmlformats.org/drawingml/2006/main">
            <a:r>
              <a:t>SHA-256: 11a3a3a9232cfe856976172d0cf58155b7bf25004af587734a8c330bf2994e5a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[S6] Original source ID: contact-casey</a:t>
            </a:r>
          </a:p>
          <a:p xmlns:a="http://schemas.openxmlformats.org/drawingml/2006/main">
            <a:r>
              <a:t>CRM snapshot</a:t>
            </a:r>
          </a:p>
          <a:p xmlns:a="http://schemas.openxmlformats.org/drawingml/2006/main">
            <a:r>
              <a:t>Location: snapshots/ready/Contact.csv</a:t>
            </a:r>
          </a:p>
          <a:p xmlns:a="http://schemas.openxmlformats.org/drawingml/2006/main">
            <a:r>
              <a:t>Record: 0035g00004CON002AAH</a:t>
            </a:r>
          </a:p>
          <a:p xmlns:a="http://schemas.openxmlformats.org/drawingml/2006/main">
            <a:r>
              <a:t>Date: 2026-09-16</a:t>
            </a:r>
          </a:p>
          <a:p xmlns:a="http://schemas.openxmlformats.org/drawingml/2006/main">
            <a:r>
              <a:t>Excerpt: Casey Jones — Director, Security Engineering</a:t>
            </a:r>
          </a:p>
          <a:p xmlns:a="http://schemas.openxmlformats.org/drawingml/2006/main">
            <a:r>
              <a:t>SHA-256: 11a3a3a9232cfe856976172d0cf58155b7bf25004af587734a8c330bf2994e5a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[S7] Original source ID: contact-jack</a:t>
            </a:r>
          </a:p>
          <a:p xmlns:a="http://schemas.openxmlformats.org/drawingml/2006/main">
            <a:r>
              <a:t>CRM snapshot</a:t>
            </a:r>
          </a:p>
          <a:p xmlns:a="http://schemas.openxmlformats.org/drawingml/2006/main">
            <a:r>
              <a:t>Location: snapshots/ready/Contact.csv</a:t>
            </a:r>
          </a:p>
          <a:p xmlns:a="http://schemas.openxmlformats.org/drawingml/2006/main">
            <a:r>
              <a:t>Record: 0035g00004CON003AAH</a:t>
            </a:r>
          </a:p>
          <a:p xmlns:a="http://schemas.openxmlformats.org/drawingml/2006/main">
            <a:r>
              <a:t>Date: 2026-09-16</a:t>
            </a:r>
          </a:p>
          <a:p xmlns:a="http://schemas.openxmlformats.org/drawingml/2006/main">
            <a:r>
              <a:t>Excerpt: Jack Straw — Procurement Manager</a:t>
            </a:r>
          </a:p>
          <a:p xmlns:a="http://schemas.openxmlformats.org/drawingml/2006/main">
            <a:r>
              <a:t>SHA-256: 11a3a3a9232cfe856976172d0cf58155b7bf25004af587734a8c330bf2994e5a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Historical snapshot: terrapin-2026-12-01-implementation-cs</a:t>
            </a:r>
          </a:p>
          <a:p xmlns:a="http://schemas.openxmlformats.org/drawingml/2006/main">
            <a:r>
              <a:t>Effective: 2026-12-01T09:00:00-06:00</a:t>
            </a:r>
          </a:p>
          <a:p xmlns:a="http://schemas.openxmlformats.org/drawingml/2006/main">
            <a:r>
              <a:t>Recorded: 2026-12-01T10:00:00-06:00</a:t>
            </a:r>
          </a:p>
          <a:p xmlns:a="http://schemas.openxmlformats.org/drawingml/2006/main">
            <a:r>
              <a:t>Type: internal_transfer</a:t>
            </a:r>
          </a:p>
          <a:p xmlns:a="http://schemas.openxmlformats.org/drawingml/2006/main">
            <a:r>
              <a:t>Policy: Internal transfer policy. Sales baseline checks structured prerequisites; internal transfers use a separate receiving-team assessment.</a:t>
            </a:r>
          </a:p>
          <a:p xmlns:a="http://schemas.openxmlformats.org/drawingml/2006/main">
            <a:r>
              <a:t>These statements and action statuses describe the handoff at this point in time. Later events do not change this snapshot.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[S1] Original source ID: ownership-december</a:t>
            </a:r>
          </a:p>
          <a:p xmlns:a="http://schemas.openxmlformats.org/drawingml/2006/main">
            <a:r>
              <a:t>Fictional internal handoff record</a:t>
            </a:r>
          </a:p>
          <a:p xmlns:a="http://schemas.openxmlformats.org/drawingml/2006/main">
            <a:r>
              <a:t>Location: snapshots/2026-12-01-implementation-transfer.json</a:t>
            </a:r>
          </a:p>
          <a:p xmlns:a="http://schemas.openxmlformats.org/drawingml/2006/main">
            <a:r>
              <a:t>Record: mock-ownership-2026-12-01</a:t>
            </a:r>
          </a:p>
          <a:p xmlns:a="http://schemas.openxmlformats.org/drawingml/2006/main">
            <a:r>
              <a:t>Date: 2026-12-01</a:t>
            </a:r>
          </a:p>
          <a:p xmlns:a="http://schemas.openxmlformats.org/drawingml/2006/main">
            <a:r>
              <a:t>Excerpt: The November 30 implementation review confirms all six venues reporting and 96% of priority alerts within 15 minutes. The December 18 investigation-time target remains due. Training and QBR dates are Not Confirmed.</a:t>
            </a:r>
          </a:p>
          <a:p xmlns:a="http://schemas.openxmlformats.org/drawingml/2006/main">
            <a:r>
              <a:t>SHA-256: 918fbd3434dd6572e0b8b6952e4fa410f023669bf7526e2b63c739673803f6f1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[S2] Original source ID: account</a:t>
            </a:r>
          </a:p>
          <a:p xmlns:a="http://schemas.openxmlformats.org/drawingml/2006/main">
            <a:r>
              <a:t>CRM snapshot</a:t>
            </a:r>
          </a:p>
          <a:p xmlns:a="http://schemas.openxmlformats.org/drawingml/2006/main">
            <a:r>
              <a:t>Location: snapshots/ready/Account.csv</a:t>
            </a:r>
          </a:p>
          <a:p xmlns:a="http://schemas.openxmlformats.org/drawingml/2006/main">
            <a:r>
              <a:t>Record: 0015g00002ABCDeAAH</a:t>
            </a:r>
          </a:p>
          <a:p xmlns:a="http://schemas.openxmlformats.org/drawingml/2006/main">
            <a:r>
              <a:t>Date: 2026-09-16</a:t>
            </a:r>
          </a:p>
          <a:p xmlns:a="http://schemas.openxmlformats.org/drawingml/2006/main">
            <a:r>
              <a:t>Excerpt: Standardize security operations across six acquired venues and improve executive reporting.</a:t>
            </a:r>
          </a:p>
          <a:p xmlns:a="http://schemas.openxmlformats.org/drawingml/2006/main">
            <a:r>
              <a:t>SHA-256: 5ab777a31b94d8506b695c60c417068ff154e5a54fcbc480079d131cbb5a3ea0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[S3] Original source ID: confirmation</a:t>
            </a:r>
          </a:p>
          <a:p xmlns:a="http://schemas.openxmlformats.org/drawingml/2006/main">
            <a:r>
              <a:t>Sales Notes snapshot</a:t>
            </a:r>
          </a:p>
          <a:p xmlns:a="http://schemas.openxmlformats.org/drawingml/2006/main">
            <a:r>
              <a:t>Location: snapshots/ready/SalesNotes.csv</a:t>
            </a:r>
          </a:p>
          <a:p xmlns:a="http://schemas.openxmlformats.org/drawingml/2006/main">
            <a:r>
              <a:t>Record: a0N5g00001NOTE04AAH</a:t>
            </a:r>
          </a:p>
          <a:p xmlns:a="http://schemas.openxmlformats.org/drawingml/2006/main">
            <a:r>
              <a:t>Date: 2026-09-10</a:t>
            </a:r>
          </a:p>
          <a:p xmlns:a="http://schemas.openxmlformats.org/drawingml/2006/main">
            <a:r>
              <a:t>Excerpt: Scarlet explicitly accepted executive sponsorship and will resolve cross-team escalations. Casey remains technical owner. Scarlet, Casey, and the Wall of Sound implementation lead agreed the rollout plan and planning-support scope: Casey sends identity-team notice by 2026-09-18, providing at least two weeks before SSO validation on 2026-10-02. Corporate pilot begins 2026-10-05; venue rollout begins 2026-11-02 and finishes 2026-11-30. SSO must pass before broad rollout. They agreed that by 2026-11-30 all six venues will report to one dashboard and at least 95% of priority alerts will appear within 15 minutes. By 2026-12-18 mean investigation time must be at most 42 minutes against the agreed 60-minute baseline. The implementation lead accepted initial rollout-planning assistance. Casey will schedule kickoff by 2026-09-17. These specific agreements resolve the open timeline and success-metric questions in the earlier notes.</a:t>
            </a:r>
          </a:p>
          <a:p xmlns:a="http://schemas.openxmlformats.org/drawingml/2006/main">
            <a:r>
              <a:t>SHA-256: 172565c494ad895dc163b4f56ac440e6fbe8ce1c7bad2143f516af8b5602bfee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Historical snapshot: terrapin-2026-12-01-implementation-cs</a:t>
            </a:r>
          </a:p>
          <a:p xmlns:a="http://schemas.openxmlformats.org/drawingml/2006/main">
            <a:r>
              <a:t>Effective: 2026-12-01T09:00:00-06:00</a:t>
            </a:r>
          </a:p>
          <a:p xmlns:a="http://schemas.openxmlformats.org/drawingml/2006/main">
            <a:r>
              <a:t>Recorded: 2026-12-01T10:00:00-06:00</a:t>
            </a:r>
          </a:p>
          <a:p xmlns:a="http://schemas.openxmlformats.org/drawingml/2006/main">
            <a:r>
              <a:t>Type: internal_transfer</a:t>
            </a:r>
          </a:p>
          <a:p xmlns:a="http://schemas.openxmlformats.org/drawingml/2006/main">
            <a:r>
              <a:t>Policy: Internal transfer policy. Sales baseline checks structured prerequisites; internal transfers use a separate receiving-team assessment.</a:t>
            </a:r>
          </a:p>
          <a:p xmlns:a="http://schemas.openxmlformats.org/drawingml/2006/main">
            <a:r>
              <a:t>These statements and action statuses describe the handoff at this point in time. Later events do not change this snapshot.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[S1] Original source ID: ownership-december</a:t>
            </a:r>
          </a:p>
          <a:p xmlns:a="http://schemas.openxmlformats.org/drawingml/2006/main">
            <a:r>
              <a:t>Fictional internal handoff record</a:t>
            </a:r>
          </a:p>
          <a:p xmlns:a="http://schemas.openxmlformats.org/drawingml/2006/main">
            <a:r>
              <a:t>Location: snapshots/2026-12-01-implementation-transfer.json</a:t>
            </a:r>
          </a:p>
          <a:p xmlns:a="http://schemas.openxmlformats.org/drawingml/2006/main">
            <a:r>
              <a:t>Record: mock-ownership-2026-12-01</a:t>
            </a:r>
          </a:p>
          <a:p xmlns:a="http://schemas.openxmlformats.org/drawingml/2006/main">
            <a:r>
              <a:t>Date: 2026-12-01</a:t>
            </a:r>
          </a:p>
          <a:p xmlns:a="http://schemas.openxmlformats.org/drawingml/2006/main">
            <a:r>
              <a:t>Excerpt: The November 30 implementation review confirms all six venues reporting and 96% of priority alerts within 15 minutes. The December 18 investigation-time target remains due. Training and QBR dates are Not Confirmed.</a:t>
            </a:r>
          </a:p>
          <a:p xmlns:a="http://schemas.openxmlformats.org/drawingml/2006/main">
            <a:r>
              <a:t>SHA-256: 918fbd3434dd6572e0b8b6952e4fa410f023669bf7526e2b63c739673803f6f1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[S2] Original source ID: account</a:t>
            </a:r>
          </a:p>
          <a:p xmlns:a="http://schemas.openxmlformats.org/drawingml/2006/main">
            <a:r>
              <a:t>CRM snapshot</a:t>
            </a:r>
          </a:p>
          <a:p xmlns:a="http://schemas.openxmlformats.org/drawingml/2006/main">
            <a:r>
              <a:t>Location: snapshots/ready/Account.csv</a:t>
            </a:r>
          </a:p>
          <a:p xmlns:a="http://schemas.openxmlformats.org/drawingml/2006/main">
            <a:r>
              <a:t>Record: 0015g00002ABCDeAAH</a:t>
            </a:r>
          </a:p>
          <a:p xmlns:a="http://schemas.openxmlformats.org/drawingml/2006/main">
            <a:r>
              <a:t>Date: 2026-09-16</a:t>
            </a:r>
          </a:p>
          <a:p xmlns:a="http://schemas.openxmlformats.org/drawingml/2006/main">
            <a:r>
              <a:t>Excerpt: Standardize security operations across six acquired venues and improve executive reporting.</a:t>
            </a:r>
          </a:p>
          <a:p xmlns:a="http://schemas.openxmlformats.org/drawingml/2006/main">
            <a:r>
              <a:t>SHA-256: 5ab777a31b94d8506b695c60c417068ff154e5a54fcbc480079d131cbb5a3ea0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[S3] Original source ID: confirmation</a:t>
            </a:r>
          </a:p>
          <a:p xmlns:a="http://schemas.openxmlformats.org/drawingml/2006/main">
            <a:r>
              <a:t>Sales Notes snapshot</a:t>
            </a:r>
          </a:p>
          <a:p xmlns:a="http://schemas.openxmlformats.org/drawingml/2006/main">
            <a:r>
              <a:t>Location: snapshots/ready/SalesNotes.csv</a:t>
            </a:r>
          </a:p>
          <a:p xmlns:a="http://schemas.openxmlformats.org/drawingml/2006/main">
            <a:r>
              <a:t>Record: a0N5g00001NOTE04AAH</a:t>
            </a:r>
          </a:p>
          <a:p xmlns:a="http://schemas.openxmlformats.org/drawingml/2006/main">
            <a:r>
              <a:t>Date: 2026-09-10</a:t>
            </a:r>
          </a:p>
          <a:p xmlns:a="http://schemas.openxmlformats.org/drawingml/2006/main">
            <a:r>
              <a:t>Excerpt: Scarlet explicitly accepted executive sponsorship and will resolve cross-team escalations. Casey remains technical owner. Scarlet, Casey, and the Wall of Sound implementation lead agreed the rollout plan and planning-support scope: Casey sends identity-team notice by 2026-09-18, providing at least two weeks before SSO validation on 2026-10-02. Corporate pilot begins 2026-10-05; venue rollout begins 2026-11-02 and finishes 2026-11-30. SSO must pass before broad rollout. They agreed that by 2026-11-30 all six venues will report to one dashboard and at least 95% of priority alerts will appear within 15 minutes. By 2026-12-18 mean investigation time must be at most 42 minutes against the agreed 60-minute baseline. The implementation lead accepted initial rollout-planning assistance. Casey will schedule kickoff by 2026-09-17. These specific agreements resolve the open timeline and success-metric questions in the earlier notes.</a:t>
            </a:r>
          </a:p>
          <a:p xmlns:a="http://schemas.openxmlformats.org/drawingml/2006/main">
            <a:r>
              <a:t>SHA-256: 172565c494ad895dc163b4f56ac440e6fbe8ce1c7bad2143f516af8b5602bfee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Historical snapshot: terrapin-2026-12-01-implementation-cs</a:t>
            </a:r>
          </a:p>
          <a:p xmlns:a="http://schemas.openxmlformats.org/drawingml/2006/main">
            <a:r>
              <a:t>Effective: 2026-12-01T09:00:00-06:00</a:t>
            </a:r>
          </a:p>
          <a:p xmlns:a="http://schemas.openxmlformats.org/drawingml/2006/main">
            <a:r>
              <a:t>Recorded: 2026-12-01T10:00:00-06:00</a:t>
            </a:r>
          </a:p>
          <a:p xmlns:a="http://schemas.openxmlformats.org/drawingml/2006/main">
            <a:r>
              <a:t>Type: internal_transfer</a:t>
            </a:r>
          </a:p>
          <a:p xmlns:a="http://schemas.openxmlformats.org/drawingml/2006/main">
            <a:r>
              <a:t>Policy: Internal transfer policy. Sales baseline checks structured prerequisites; internal transfers use a separate receiving-team assessment.</a:t>
            </a:r>
          </a:p>
          <a:p xmlns:a="http://schemas.openxmlformats.org/drawingml/2006/main">
            <a:r>
              <a:t>These statements and action statuses describe the handoff at this point in time. Later events do not change this snapshot.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[S1] Original source ID: ownership-december</a:t>
            </a:r>
          </a:p>
          <a:p xmlns:a="http://schemas.openxmlformats.org/drawingml/2006/main">
            <a:r>
              <a:t>Fictional internal handoff record</a:t>
            </a:r>
          </a:p>
          <a:p xmlns:a="http://schemas.openxmlformats.org/drawingml/2006/main">
            <a:r>
              <a:t>Location: snapshots/2026-12-01-implementation-transfer.json</a:t>
            </a:r>
          </a:p>
          <a:p xmlns:a="http://schemas.openxmlformats.org/drawingml/2006/main">
            <a:r>
              <a:t>Record: mock-ownership-2026-12-01</a:t>
            </a:r>
          </a:p>
          <a:p xmlns:a="http://schemas.openxmlformats.org/drawingml/2006/main">
            <a:r>
              <a:t>Date: 2026-12-01</a:t>
            </a:r>
          </a:p>
          <a:p xmlns:a="http://schemas.openxmlformats.org/drawingml/2006/main">
            <a:r>
              <a:t>Excerpt: The November 30 implementation review confirms all six venues reporting and 96% of priority alerts within 15 minutes. The December 18 investigation-time target remains due. Training and QBR dates are Not Confirmed.</a:t>
            </a:r>
          </a:p>
          <a:p xmlns:a="http://schemas.openxmlformats.org/drawingml/2006/main">
            <a:r>
              <a:t>SHA-256: 918fbd3434dd6572e0b8b6952e4fa410f023669bf7526e2b63c739673803f6f1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[S2] Original source ID: account</a:t>
            </a:r>
          </a:p>
          <a:p xmlns:a="http://schemas.openxmlformats.org/drawingml/2006/main">
            <a:r>
              <a:t>CRM snapshot</a:t>
            </a:r>
          </a:p>
          <a:p xmlns:a="http://schemas.openxmlformats.org/drawingml/2006/main">
            <a:r>
              <a:t>Location: snapshots/ready/Account.csv</a:t>
            </a:r>
          </a:p>
          <a:p xmlns:a="http://schemas.openxmlformats.org/drawingml/2006/main">
            <a:r>
              <a:t>Record: 0015g00002ABCDeAAH</a:t>
            </a:r>
          </a:p>
          <a:p xmlns:a="http://schemas.openxmlformats.org/drawingml/2006/main">
            <a:r>
              <a:t>Date: 2026-09-16</a:t>
            </a:r>
          </a:p>
          <a:p xmlns:a="http://schemas.openxmlformats.org/drawingml/2006/main">
            <a:r>
              <a:t>Excerpt: Standardize security operations across six acquired venues and improve executive reporting.</a:t>
            </a:r>
          </a:p>
          <a:p xmlns:a="http://schemas.openxmlformats.org/drawingml/2006/main">
            <a:r>
              <a:t>SHA-256: 5ab777a31b94d8506b695c60c417068ff154e5a54fcbc480079d131cbb5a3ea0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[S3] Original source ID: confirmation</a:t>
            </a:r>
          </a:p>
          <a:p xmlns:a="http://schemas.openxmlformats.org/drawingml/2006/main">
            <a:r>
              <a:t>Sales Notes snapshot</a:t>
            </a:r>
          </a:p>
          <a:p xmlns:a="http://schemas.openxmlformats.org/drawingml/2006/main">
            <a:r>
              <a:t>Location: snapshots/ready/SalesNotes.csv</a:t>
            </a:r>
          </a:p>
          <a:p xmlns:a="http://schemas.openxmlformats.org/drawingml/2006/main">
            <a:r>
              <a:t>Record: a0N5g00001NOTE04AAH</a:t>
            </a:r>
          </a:p>
          <a:p xmlns:a="http://schemas.openxmlformats.org/drawingml/2006/main">
            <a:r>
              <a:t>Date: 2026-09-10</a:t>
            </a:r>
          </a:p>
          <a:p xmlns:a="http://schemas.openxmlformats.org/drawingml/2006/main">
            <a:r>
              <a:t>Excerpt: Scarlet explicitly accepted executive sponsorship and will resolve cross-team escalations. Casey remains technical owner. Scarlet, Casey, and the Wall of Sound implementation lead agreed the rollout plan and planning-support scope: Casey sends identity-team notice by 2026-09-18, providing at least two weeks before SSO validation on 2026-10-02. Corporate pilot begins 2026-10-05; venue rollout begins 2026-11-02 and finishes 2026-11-30. SSO must pass before broad rollout. They agreed that by 2026-11-30 all six venues will report to one dashboard and at least 95% of priority alerts will appear within 15 minutes. By 2026-12-18 mean investigation time must be at most 42 minutes against the agreed 60-minute baseline. The implementation lead accepted initial rollout-planning assistance. Casey will schedule kickoff by 2026-09-17. These specific agreements resolve the open timeline and success-metric questions in the earlier notes.</a:t>
            </a:r>
          </a:p>
          <a:p xmlns:a="http://schemas.openxmlformats.org/drawingml/2006/main">
            <a:r>
              <a:t>SHA-256: 172565c494ad895dc163b4f56ac440e6fbe8ce1c7bad2143f516af8b5602bfee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96053fe03c45f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f8dc7c8ec24ba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3894118d444c3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125753c195463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69ab3628f84f6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0a857d70ca45c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589c5f0205404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81f07d0fd14558" /></Relationships>
</file>

<file path=ppt/slideLayouts/slideLayout1.xml><?xml version="1.0" encoding="utf-8"?>
<p:sldLayout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83004A5-B645-655E-5362-4217D55892E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93700" y="1041400"/>
            <a:ext cx="7493000" cy="249149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C57031B1-59B2-C235-9FDD-8050418A5FD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93700" y="4356100"/>
            <a:ext cx="5537200" cy="16383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E851FDE-9E0B-568C-1CBA-E72B86CC06E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11404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9CCD18F-3BF6-A3EE-DAAE-66BD406D7E8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10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186992D-ADA6-5A23-EBD5-6BEF0A2E61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CDBB333F-FFCF-AA9E-7AC0-64DB02353F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DCC3060-FADA-4310-30F9-24EC34B5AA8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55372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E7B047-08E6-29C1-F101-C084D555AAC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1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DE564C6-8AA0-935D-A919-07AFA15B335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12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ABE46D3-8F05-1C7F-3EC7-20BFCC76C251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6256618" y="2032000"/>
            <a:ext cx="55372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39D2C21-36BF-25E7-8E97-1D17F313F7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2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13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14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0E090C5-E6C8-92F2-E8C2-A840B8F1807D}"/>
              </a:ext>
            </a:extLst>
          </p:cNvPr>
          <p:cNvSpPr>
            <a:spLocks xmlns:a="http://schemas.openxmlformats.org/drawingml/2006/main" noGrp="1"/>
          </p:cNvSpPr>
          <p:nvPr>
            <p:ph idx="10"/>
          </p:nvPr>
        </p:nvSpPr>
        <p:spPr>
          <a:xfrm xmlns:a="http://schemas.openxmlformats.org/drawingml/2006/main">
            <a:off x="4318000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15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C6D2D15-AEC2-9F99-316F-C37AF863965D}"/>
              </a:ext>
            </a:extLst>
          </p:cNvPr>
          <p:cNvSpPr>
            <a:spLocks xmlns:a="http://schemas.openxmlformats.org/drawingml/2006/main" noGrp="1"/>
          </p:cNvSpPr>
          <p:nvPr>
            <p:ph idx="11"/>
          </p:nvPr>
        </p:nvSpPr>
        <p:spPr>
          <a:xfrm xmlns:a="http://schemas.openxmlformats.org/drawingml/2006/main">
            <a:off x="8232273" y="2032000"/>
            <a:ext cx="35687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Four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93700" y="2213811"/>
            <a:ext cx="2595934" cy="37805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12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13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8" name="Text Placeholder 7">
            <a:extLst xmlns:a="http://schemas.openxmlformats.org/drawingml/2006/main">
              <a:ext uri="{FF2B5EF4-FFF2-40B4-BE49-F238E27FC236}">
                <a16:creationId xmlns:a16="http://schemas.microsoft.com/office/drawing/2014/main" id="{4F70A9DA-D783-0627-3166-E13B68C2ADAC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334966" y="2213811"/>
            <a:ext cx="2595934" cy="3780589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9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5BF2647-8E8C-CAEE-896D-0E1567AF7E99}"/>
              </a:ext>
            </a:extLst>
          </p:cNvPr>
          <p:cNvSpPr>
            <a:spLocks xmlns:a="http://schemas.openxmlformats.org/drawingml/2006/main" noGrp="1"/>
          </p:cNvSpPr>
          <p:nvPr>
            <p:ph idx="13"/>
          </p:nvPr>
        </p:nvSpPr>
        <p:spPr>
          <a:xfrm xmlns:a="http://schemas.openxmlformats.org/drawingml/2006/main">
            <a:off x="6264413" y="2213811"/>
            <a:ext cx="2595934" cy="37805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  <p:sp>
        <p:nvSpPr>
          <p:cNvPr id="10" name="Text Placeholder 7">
            <a:extLst xmlns:a="http://schemas.openxmlformats.org/drawingml/2006/main">
              <a:ext uri="{FF2B5EF4-FFF2-40B4-BE49-F238E27FC236}">
                <a16:creationId xmlns:a16="http://schemas.microsoft.com/office/drawing/2014/main" id="{37C6F143-221A-9959-8FBA-B9B1DB6602D0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9205679" y="2213811"/>
            <a:ext cx="2595934" cy="3780589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 xmlns:a="http://schemas.openxmlformats.org/drawingml/2006/main">
            <a:pPr lvl="0">
              <a:buNone/>
            </a:pPr>
            <a:r>
              <a:t>Click to edit Master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B1182C5-F22B-2641-06DE-4EDACA3C1DD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9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7A4AD5-204B-38FD-4F33-270C2F9F5CC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5CF9983-3FD7-FAE4-9F0B-B2CE806D89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Footer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012CBCC-C555-8C11-443D-86D6F7A45C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8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69B260B-B882-BF7F-1BB1-28B9578A25A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56583e88ad64461" /><Relationship Type="http://schemas.openxmlformats.org/officeDocument/2006/relationships/slideLayout" Target="/ppt/slideLayouts/slideLayout1.xml" Id="R831aa91bebee42c0" /><Relationship Type="http://schemas.openxmlformats.org/officeDocument/2006/relationships/slideLayout" Target="/ppt/slideLayouts/slideLayout2.xml" Id="Re6c0d611e71d4f8d" /><Relationship Type="http://schemas.openxmlformats.org/officeDocument/2006/relationships/slideLayout" Target="/ppt/slideLayouts/slideLayout3.xml" Id="R96985e4bd4314719" /><Relationship Type="http://schemas.openxmlformats.org/officeDocument/2006/relationships/slideLayout" Target="/ppt/slideLayouts/slideLayout4.xml" Id="R2b61bb01ced34d89" /><Relationship Type="http://schemas.openxmlformats.org/officeDocument/2006/relationships/slideLayout" Target="/ppt/slideLayouts/slideLayout5.xml" Id="R5f87193cc93149bc" /><Relationship Type="http://schemas.openxmlformats.org/officeDocument/2006/relationships/slideLayout" Target="/ppt/slideLayouts/slideLayout6.xml" Id="R8f9ce9cc8a144a84" /><Relationship Type="http://schemas.openxmlformats.org/officeDocument/2006/relationships/slideLayout" Target="/ppt/slideLayouts/slideLayout7.xml" Id="R3a1ce4fb7c6d4c3c" /><Relationship Type="http://schemas.openxmlformats.org/officeDocument/2006/relationships/slideLayout" Target="/ppt/slideLayouts/slideLayout8.xml" Id="R72860b77138e45b9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0026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B87ED2E-D8FF-5C8C-ED50-59BA3091C3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5B0E1CB-6DCA-2E9F-2B74-4309B4084C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93700" y="2032000"/>
            <a:ext cx="11404600" cy="396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75650C-2983-5B02-8421-FF181843543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endParaRPr sz="1000"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872C88C-1AB3-96BA-C9E5-3435A4BD59B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b"/>
          <a:lstStyle xmlns:a="http://schemas.openxmlformats.org/drawingml/2006/main"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fld id="{8574A810-7A8E-054F-9F6B-09E9C694ECF9}" type="slidenum">
              <a:t>‹#›</a:t>
            </a:fld>
            <a:endParaRPr sz="100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31aa91bebee42c0"/>
    <p:sldLayoutId xmlns:r="http://schemas.openxmlformats.org/officeDocument/2006/relationships" id="2147483650" r:id="Re6c0d611e71d4f8d"/>
    <p:sldLayoutId xmlns:r="http://schemas.openxmlformats.org/officeDocument/2006/relationships" id="2147483651" r:id="R96985e4bd4314719"/>
    <p:sldLayoutId xmlns:r="http://schemas.openxmlformats.org/officeDocument/2006/relationships" id="2147483652" r:id="R2b61bb01ced34d89"/>
    <p:sldLayoutId xmlns:r="http://schemas.openxmlformats.org/officeDocument/2006/relationships" id="2147483653" r:id="R5f87193cc93149bc"/>
    <p:sldLayoutId xmlns:r="http://schemas.openxmlformats.org/officeDocument/2006/relationships" id="2147483654" r:id="R8f9ce9cc8a144a84"/>
    <p:sldLayoutId xmlns:r="http://schemas.openxmlformats.org/officeDocument/2006/relationships" id="2147483655" r:id="R3a1ce4fb7c6d4c3c"/>
    <p:sldLayoutId xmlns:r="http://schemas.openxmlformats.org/officeDocument/2006/relationships" id="2147483656" r:id="R72860b77138e45b9"/>
  </p:sldLayoutIdLst>
  <p:hf hd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2900" b="0" i="0" kern="1200">
          <a:solidFill>
            <a:schemeClr val="tx1"/>
          </a:solidFill>
          <a:latin typeface="Inter Medium"/>
          <a:ea typeface="Inter Medium"/>
          <a:cs typeface="Inter Medium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>
          <p15:clr>
            <a:srgbClr xmlns:a="http://schemas.openxmlformats.org/drawingml/2006/main" val="F26B43"/>
          </p15:clr>
        </p15:guide>
        <p15:guide id="2" pos="7680">
          <p15:clr>
            <a:srgbClr xmlns:a="http://schemas.openxmlformats.org/drawingml/2006/main" val="F26B43"/>
          </p15:clr>
        </p15:guide>
        <p15:guide id="3" pos="248">
          <p15:clr>
            <a:srgbClr xmlns:a="http://schemas.openxmlformats.org/drawingml/2006/main" val="F26B43"/>
          </p15:clr>
        </p15:guide>
        <p15:guide id="4" pos="1264">
          <p15:clr>
            <a:srgbClr xmlns:a="http://schemas.openxmlformats.org/drawingml/2006/main" val="F26B43"/>
          </p15:clr>
        </p15:guide>
        <p15:guide id="5" pos="1480">
          <p15:clr>
            <a:srgbClr xmlns:a="http://schemas.openxmlformats.org/drawingml/2006/main" val="F26B43"/>
          </p15:clr>
        </p15:guide>
        <p15:guide id="6" pos="2496">
          <p15:clr>
            <a:srgbClr xmlns:a="http://schemas.openxmlformats.org/drawingml/2006/main" val="F26B43"/>
          </p15:clr>
        </p15:guide>
        <p15:guide id="7" pos="2712">
          <p15:clr>
            <a:srgbClr xmlns:a="http://schemas.openxmlformats.org/drawingml/2006/main" val="F26B43"/>
          </p15:clr>
        </p15:guide>
        <p15:guide id="8" pos="3736">
          <p15:clr>
            <a:srgbClr xmlns:a="http://schemas.openxmlformats.org/drawingml/2006/main" val="F26B43"/>
          </p15:clr>
        </p15:guide>
        <p15:guide id="9" pos="3944">
          <p15:clr>
            <a:srgbClr xmlns:a="http://schemas.openxmlformats.org/drawingml/2006/main" val="F26B43"/>
          </p15:clr>
        </p15:guide>
        <p15:guide id="10" pos="4968">
          <p15:clr>
            <a:srgbClr xmlns:a="http://schemas.openxmlformats.org/drawingml/2006/main" val="F26B43"/>
          </p15:clr>
        </p15:guide>
        <p15:guide id="11" pos="5184">
          <p15:clr>
            <a:srgbClr xmlns:a="http://schemas.openxmlformats.org/drawingml/2006/main" val="F26B43"/>
          </p15:clr>
        </p15:guide>
        <p15:guide id="12" pos="6200">
          <p15:clr>
            <a:srgbClr xmlns:a="http://schemas.openxmlformats.org/drawingml/2006/main" val="F26B43"/>
          </p15:clr>
        </p15:guide>
        <p15:guide id="13" pos="6416">
          <p15:clr>
            <a:srgbClr xmlns:a="http://schemas.openxmlformats.org/drawingml/2006/main" val="F26B43"/>
          </p15:clr>
        </p15:guide>
        <p15:guide id="14" pos="7432">
          <p15:clr>
            <a:srgbClr xmlns:a="http://schemas.openxmlformats.org/drawingml/2006/main" val="F26B43"/>
          </p15:clr>
        </p15:guide>
        <p15:guide id="15" orient="horz">
          <p15:clr>
            <a:srgbClr xmlns:a="http://schemas.openxmlformats.org/drawingml/2006/main" val="F26B43"/>
          </p15:clr>
        </p15:guide>
        <p15:guide id="17" orient="horz" pos="248">
          <p15:clr>
            <a:srgbClr xmlns:a="http://schemas.openxmlformats.org/drawingml/2006/main" val="F26B43"/>
          </p15:clr>
        </p15:guide>
        <p15:guide id="18" orient="horz" pos="656">
          <p15:clr>
            <a:srgbClr xmlns:a="http://schemas.openxmlformats.org/drawingml/2006/main" val="F26B43"/>
          </p15:clr>
        </p15:guide>
        <p15:guide id="19" orient="horz" pos="872">
          <p15:clr>
            <a:srgbClr xmlns:a="http://schemas.openxmlformats.org/drawingml/2006/main" val="F26B43"/>
          </p15:clr>
        </p15:guide>
        <p15:guide id="20" orient="horz" pos="1280">
          <p15:clr>
            <a:srgbClr xmlns:a="http://schemas.openxmlformats.org/drawingml/2006/main" val="F26B43"/>
          </p15:clr>
        </p15:guide>
        <p15:guide id="21" orient="horz" pos="1496">
          <p15:clr>
            <a:srgbClr xmlns:a="http://schemas.openxmlformats.org/drawingml/2006/main" val="F26B43"/>
          </p15:clr>
        </p15:guide>
        <p15:guide id="22" orient="horz" pos="1904">
          <p15:clr>
            <a:srgbClr xmlns:a="http://schemas.openxmlformats.org/drawingml/2006/main" val="F26B43"/>
          </p15:clr>
        </p15:guide>
        <p15:guide id="23" orient="horz" pos="2120">
          <p15:clr>
            <a:srgbClr xmlns:a="http://schemas.openxmlformats.org/drawingml/2006/main" val="F26B43"/>
          </p15:clr>
        </p15:guide>
        <p15:guide id="24" orient="horz" pos="2528">
          <p15:clr>
            <a:srgbClr xmlns:a="http://schemas.openxmlformats.org/drawingml/2006/main" val="F26B43"/>
          </p15:clr>
        </p15:guide>
        <p15:guide id="25" orient="horz" pos="2744">
          <p15:clr>
            <a:srgbClr xmlns:a="http://schemas.openxmlformats.org/drawingml/2006/main" val="F26B43"/>
          </p15:clr>
        </p15:guide>
        <p15:guide id="26" orient="horz" pos="3152">
          <p15:clr>
            <a:srgbClr xmlns:a="http://schemas.openxmlformats.org/drawingml/2006/main" val="F26B43"/>
          </p15:clr>
        </p15:guide>
        <p15:guide id="27" orient="horz" pos="3368">
          <p15:clr>
            <a:srgbClr xmlns:a="http://schemas.openxmlformats.org/drawingml/2006/main" val="F26B43"/>
          </p15:clr>
        </p15:guide>
        <p15:guide id="28" orient="horz" pos="3776">
          <p15:clr>
            <a:srgbClr xmlns:a="http://schemas.openxmlformats.org/drawingml/2006/main" val="F26B43"/>
          </p15:clr>
        </p15:guide>
        <p15:guide id="29" orient="horz" pos="4088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Default Codex Theme">
  <a:themeElements>
    <a:clrScheme name="Codex Colors">
      <a:dk1>
        <a:srgbClr val="000000"/>
      </a:dk1>
      <a:lt1>
        <a:srgbClr val="FFFFFF"/>
      </a:lt1>
      <a:dk2>
        <a:srgbClr val="00264F"/>
      </a:dk2>
      <a:lt2>
        <a:srgbClr val="D0EDFA"/>
      </a:lt2>
      <a:accent1>
        <a:srgbClr val="6DCBF4"/>
      </a:accent1>
      <a:accent2>
        <a:srgbClr val="3D8DFF"/>
      </a:accent2>
      <a:accent3>
        <a:srgbClr val="47E2C2"/>
      </a:accent3>
      <a:accent4>
        <a:srgbClr val="85DF7B"/>
      </a:accent4>
      <a:accent5>
        <a:srgbClr val="F7CB59"/>
      </a:accent5>
      <a:accent6>
        <a:srgbClr val="F67576"/>
      </a:accent6>
      <a:hlink>
        <a:srgbClr val="000000"/>
      </a:hlink>
      <a:folHlink>
        <a:srgbClr val="0097A7"/>
      </a:folHlink>
    </a:clrScheme>
    <a:fontScheme name="Inter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Codex Color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e247bd378be49c3" /><Relationship Type="http://schemas.openxmlformats.org/officeDocument/2006/relationships/notesSlide" Target="/ppt/notesSlides/notesSlide1.xml" Id="Raed4765644d3403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b975df1adf452d" /><Relationship Type="http://schemas.openxmlformats.org/officeDocument/2006/relationships/notesSlide" Target="/ppt/notesSlides/notesSlide2.xml" Id="R0e225119adc843d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a0599620e2b4f4d" /><Relationship Type="http://schemas.openxmlformats.org/officeDocument/2006/relationships/notesSlide" Target="/ppt/notesSlides/notesSlide3.xml" Id="Rd4a59ddcd71540f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9c460e929c4855" /><Relationship Type="http://schemas.openxmlformats.org/officeDocument/2006/relationships/notesSlide" Target="/ppt/notesSlides/notesSlide4.xml" Id="R0501eceecca9471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18055b746c49ff" /><Relationship Type="http://schemas.openxmlformats.org/officeDocument/2006/relationships/notesSlide" Target="/ppt/notesSlides/notesSlide5.xml" Id="R06500cbef11b46f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80f6eb245a4671" /><Relationship Type="http://schemas.openxmlformats.org/officeDocument/2006/relationships/notesSlide" Target="/ppt/notesSlides/notesSlide6.xml" Id="R17aa8ebae6754e0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6367977e74465a" /><Relationship Type="http://schemas.openxmlformats.org/officeDocument/2006/relationships/notesSlide" Target="/ppt/notesSlides/notesSlide7.xml" Id="Rc7f2d84990a3415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7f3a83b233445d" /><Relationship Type="http://schemas.openxmlformats.org/officeDocument/2006/relationships/notesSlide" Target="/ppt/notesSlides/notesSlide8.xml" Id="Ra87a397e88db47e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de1d0dcd104d15" /><Relationship Type="http://schemas.openxmlformats.org/officeDocument/2006/relationships/notesSlide" Target="/ppt/notesSlides/notesSlide9.xml" Id="Rd53e5328193345b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C44867F-CEA9-06EF-47ED-8F63A6DAE6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/>
            </a:r>
          </a:p>
        </p:txBody>
      </p:sp>
      <p:sp>
        <p:nvSpPr>
          <p:cNvPr id="532" name="Google Shape;532;p58">
            <a:extLst xmlns:a="http://schemas.openxmlformats.org/drawingml/2006/main">
              <a:ext uri="{FF2B5EF4-FFF2-40B4-BE49-F238E27FC236}">
                <a16:creationId xmlns:a16="http://schemas.microsoft.com/office/drawing/2014/main" id="{787BCE7D-BEA2-12A4-00CE-1447A3C11BC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332" y="6279294"/>
            <a:ext cx="518968" cy="241240"/>
          </a:xfrm>
        </p:spPr>
        <p:txBody>
          <a:bodyPr xmlns:a="http://schemas.openxmlformats.org/drawingml/2006/main" spcFirstLastPara="1" vert="horz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>1</a:t>
            </a:r>
          </a:p>
        </p:txBody>
      </p:sp>
      <p:sp>
        <p:nvSpPr>
          <p:cNvPr id="533" name="Google Shape;533;p58">
            <a:extLst xmlns:a="http://schemas.openxmlformats.org/drawingml/2006/main">
              <a:ext uri="{FF2B5EF4-FFF2-40B4-BE49-F238E27FC236}">
                <a16:creationId xmlns:a16="http://schemas.microsoft.com/office/drawing/2014/main" id="{451E053B-8CD7-DAF7-BA60-B58D00D61D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2900">
                <a:solidFill>
                  <a:srgbClr val="FFFFFF"/>
                </a:solidFill>
                <a:latin typeface="Inter Medium"/>
                <a:ea typeface="Inter Medium"/>
                <a:cs typeface="Inter Medium"/>
              </a:defRPr>
            </a:pPr>
            <a:r>
              <a:t>Terrapin Touring Co.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2900">
                <a:solidFill>
                  <a:srgbClr val="FFFFFF"/>
                </a:solidFill>
                <a:latin typeface="Inter Medium"/>
                <a:ea typeface="Inter Medium"/>
                <a:cs typeface="Inter Medium"/>
              </a:defRPr>
            </a:pPr>
            <a:r>
              <a:t>Current account overview</a:t>
            </a:r>
          </a:p>
        </p:txBody>
      </p:sp>
      <p:sp>
        <p:nvSpPr>
          <p:cNvPr id="534" name="Google Shape;534;p58">
            <a:extLst xmlns:a="http://schemas.openxmlformats.org/drawingml/2006/main">
              <a:ext uri="{FF2B5EF4-FFF2-40B4-BE49-F238E27FC236}">
                <a16:creationId xmlns:a16="http://schemas.microsoft.com/office/drawing/2014/main" id="{92B9D060-8F6B-685E-C699-7CF3FDA228BA}"/>
              </a:ext>
            </a:extLst>
          </p:cNvPr>
          <p:cNvSpPr>
            <a:spLocks xmlns:a="http://schemas.openxmlformats.org/drawingml/2006/main" noGrp="1"/>
          </p:cNvSpPr>
          <p:nvPr>
            <p:ph idx="4294967295"/>
          </p:nvPr>
        </p:nvSpPr>
        <p:spPr>
          <a:xfrm xmlns:a="http://schemas.openxmlformats.org/drawingml/2006/main">
            <a:off x="390388" y="1797928"/>
            <a:ext cx="5537200" cy="86518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vert="horz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>Needs Review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>As of 2026-12-01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0BD0609-EAC0-DFEC-8761-6C5A72DB2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388" y="3065806"/>
            <a:ext cx="4774279" cy="206745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7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>Six venues are reporting and 96% of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7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>priority alerts arrive within 15 minutes.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7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>Training and QBR dates remain unconfirmed;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7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>the Dec 18 goal remains open. [S1, S3]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1D611070-583D-3F58-C192-8939D876E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13" y="1722438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rgbClr val="284638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176A6DA9-A945-2CB8-E1DA-17DA3035F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648" y="2017370"/>
            <a:ext cx="4986886" cy="104843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l">
              <a:spcBef>
                <a:spcPts val="0"/>
              </a:spcBef>
              <a:spcAft>
                <a:spcPts val="35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2400">
                <a:solidFill>
                  <a:srgbClr val="BCEF59"/>
                </a:solidFill>
                <a:latin typeface="Inter Medium"/>
                <a:ea typeface="Inter Medium"/>
                <a:cs typeface="Inter Medium"/>
              </a:rPr>
              <a:t>Current owner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Althea Cassidy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Customer Success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7A99370F-1C2A-C7A9-A2D7-8EC8D6F73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13" y="3734118"/>
            <a:ext cx="5533887" cy="1638300"/>
          </a:xfrm>
          <a:prstGeom xmlns:a="http://schemas.openxmlformats.org/drawingml/2006/main" prst="roundRect">
            <a:avLst>
              <a:gd name="adj" fmla="val 3585"/>
            </a:avLst>
          </a:prstGeom>
          <a:solidFill xmlns:a="http://schemas.openxmlformats.org/drawingml/2006/main">
            <a:srgbClr val="284638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5BB779E3-29A4-71DB-4059-EE4248BE7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648" y="4029050"/>
            <a:ext cx="4986886" cy="104843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l">
              <a:spcBef>
                <a:spcPts val="0"/>
              </a:spcBef>
              <a:spcAft>
                <a:spcPts val="35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2400">
                <a:solidFill>
                  <a:srgbClr val="BCEF59"/>
                </a:solidFill>
                <a:latin typeface="Inter Medium"/>
                <a:ea typeface="Inter Medium"/>
                <a:cs typeface="Inter Medium"/>
              </a:rPr>
              <a:t>Latest handoff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Implementation to Customer Success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2026-12-01 [S1]</a:t>
            </a:r>
          </a:p>
        </p:txBody>
      </p:sp>
      <p:sp>
        <p:nvSpPr>
          <p:cNvPr id="535" name="Baton policy footer">
            <a:extLst xmlns:a="http://schemas.openxmlformats.org/drawingml/2006/main">
              <a:ext uri="{FF2B5EF4-FFF2-40B4-BE49-F238E27FC236}">
                <a16:creationId xmlns:a16="http://schemas.microsoft.com/office/drawing/2014/main" id="{C5F8D23E-64CD-487B-94CE-9003DF072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6279928"/>
            <a:ext cx="10382250" cy="241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>Baton / Current account view / Simulated example</a:t>
            </a:r>
          </a:p>
        </p:txBody>
      </p:sp>
    </p:spTree>
    <p:extLst>
      <p:ext uri="{BB962C8B-B14F-4D97-AF65-F5344CB8AC3E}">
        <p14:creationId xmlns:p14="http://schemas.microsoft.com/office/powerpoint/2010/main" val="333187913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79D819C-33DB-D779-0CC9-74786C7AA64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/>
            </a:r>
          </a:p>
        </p:txBody>
      </p:sp>
      <p:sp>
        <p:nvSpPr>
          <p:cNvPr id="2" name="Slide Number Placeholder 1">
            <a:extLst xmlns:a="http://schemas.openxmlformats.org/drawingml/2006/main">
              <a:ext uri="{FF2B5EF4-FFF2-40B4-BE49-F238E27FC236}">
                <a16:creationId xmlns:a16="http://schemas.microsoft.com/office/drawing/2014/main" id="{6B79DB2A-CC47-00B8-FE1C-26473E47EA9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188" y="6278563"/>
            <a:ext cx="519112" cy="241300"/>
          </a:xfr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>2</a:t>
            </a:r>
          </a:p>
        </p:txBody>
      </p:sp>
      <p:sp>
        <p:nvSpPr>
          <p:cNvPr id="3" name="Title 2">
            <a:extLst xmlns:a="http://schemas.openxmlformats.org/drawingml/2006/main">
              <a:ext uri="{FF2B5EF4-FFF2-40B4-BE49-F238E27FC236}">
                <a16:creationId xmlns:a16="http://schemas.microsoft.com/office/drawing/2014/main" id="{89BFFB18-4CB5-6BE2-9B1E-49B4101293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2900">
                <a:solidFill>
                  <a:srgbClr val="FFFFFF"/>
                </a:solidFill>
                <a:latin typeface="Inter Medium"/>
                <a:ea typeface="Inter Medium"/>
                <a:cs typeface="Inter Medium"/>
              </a:defRPr>
            </a:pPr>
            <a:r>
              <a:t>Current customer context</a:t>
            </a:r>
          </a:p>
        </p:txBody>
      </p:sp>
      <p:sp>
        <p:nvSpPr>
          <p:cNvPr id="10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40C911A7-2999-5B10-850F-7785C571AE51}"/>
              </a:ext>
            </a:extLst>
          </p:cNvPr>
          <p:cNvSpPr>
            <a:spLocks xmlns:a="http://schemas.openxmlformats.org/drawingml/2006/main" noGrp="1"/>
          </p:cNvSpPr>
          <p:nvPr>
            <p:ph idx="4294967295"/>
          </p:nvPr>
        </p:nvSpPr>
        <p:spPr>
          <a:xfrm xmlns:a="http://schemas.openxmlformats.org/drawingml/2006/main">
            <a:off x="393700" y="2032000"/>
            <a:ext cx="5537200" cy="1643063"/>
          </a:xfr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35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2400">
                <a:solidFill>
                  <a:srgbClr val="BCEF59"/>
                </a:solidFill>
                <a:latin typeface="Inter Medium"/>
                <a:ea typeface="Inter Medium"/>
                <a:cs typeface="Inter Medium"/>
              </a:rPr>
              <a:t>Customer goals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Maintain a single security view across six venues and monthly executive reporting. [S1, S2]</a:t>
            </a:r>
          </a:p>
        </p:txBody>
      </p:sp>
      <p:sp>
        <p:nvSpPr>
          <p:cNvPr id="11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9591DE77-626F-6364-307D-6A3CECC3E0AC}"/>
              </a:ext>
            </a:extLst>
          </p:cNvPr>
          <p:cNvSpPr>
            <a:spLocks xmlns:a="http://schemas.openxmlformats.org/drawingml/2006/main" noGrp="1"/>
          </p:cNvSpPr>
          <p:nvPr>
            <p:ph idx="4294967295"/>
          </p:nvPr>
        </p:nvSpPr>
        <p:spPr>
          <a:xfrm xmlns:a="http://schemas.openxmlformats.org/drawingml/2006/main">
            <a:off x="6256618" y="2032000"/>
            <a:ext cx="5537200" cy="1643063"/>
          </a:xfr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35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2400">
                <a:solidFill>
                  <a:srgbClr val="BCEF59"/>
                </a:solidFill>
                <a:latin typeface="Inter Medium"/>
                <a:ea typeface="Inter Medium"/>
                <a:cs typeface="Inter Medium"/>
              </a:rPr>
              <a:t>Stakeholders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Althea Cassidy owns Customer Success. Scarlet remains sponsor; Casey remains the customer technical owner. [S1]</a:t>
            </a:r>
          </a:p>
        </p:txBody>
      </p:sp>
      <p:sp>
        <p:nvSpPr>
          <p:cNvPr id="4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5FBFFE27-6CE4-D49E-8371-7F40817D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4016975"/>
            <a:ext cx="5537200" cy="16431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/>
            </a:r>
          </a:p>
        </p:txBody>
      </p:sp>
      <p:sp>
        <p:nvSpPr>
          <p:cNvPr id="5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D6F50C40-7DBA-55A3-751E-00E97654E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618" y="4016975"/>
            <a:ext cx="5537200" cy="16431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/>
            </a:r>
          </a:p>
        </p:txBody>
      </p:sp>
      <p:sp>
        <p:nvSpPr>
          <p:cNvPr id="12" name="Baton policy footer">
            <a:extLst xmlns:a="http://schemas.openxmlformats.org/drawingml/2006/main">
              <a:ext uri="{FF2B5EF4-FFF2-40B4-BE49-F238E27FC236}">
                <a16:creationId xmlns:a16="http://schemas.microsoft.com/office/drawing/2014/main" id="{8427B11F-1CFB-4CE3-873C-0B92FE92B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6279928"/>
            <a:ext cx="10382250" cy="241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>Baton / Current account view / Simulated example</a:t>
            </a:r>
          </a:p>
        </p:txBody>
      </p:sp>
    </p:spTree>
    <p:extLst>
      <p:ext uri="{BB962C8B-B14F-4D97-AF65-F5344CB8AC3E}">
        <p14:creationId xmlns:p14="http://schemas.microsoft.com/office/powerpoint/2010/main" val="36014548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79D819C-33DB-D779-0CC9-74786C7AA64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/>
            </a:r>
          </a:p>
        </p:txBody>
      </p:sp>
      <p:sp>
        <p:nvSpPr>
          <p:cNvPr id="2" name="Slide Number Placeholder 1">
            <a:extLst xmlns:a="http://schemas.openxmlformats.org/drawingml/2006/main">
              <a:ext uri="{FF2B5EF4-FFF2-40B4-BE49-F238E27FC236}">
                <a16:creationId xmlns:a16="http://schemas.microsoft.com/office/drawing/2014/main" id="{6B79DB2A-CC47-00B8-FE1C-26473E47EA9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188" y="6278563"/>
            <a:ext cx="519112" cy="241300"/>
          </a:xfr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>3</a:t>
            </a:r>
          </a:p>
        </p:txBody>
      </p:sp>
      <p:sp>
        <p:nvSpPr>
          <p:cNvPr id="3" name="Title 2">
            <a:extLst xmlns:a="http://schemas.openxmlformats.org/drawingml/2006/main">
              <a:ext uri="{FF2B5EF4-FFF2-40B4-BE49-F238E27FC236}">
                <a16:creationId xmlns:a16="http://schemas.microsoft.com/office/drawing/2014/main" id="{89BFFB18-4CB5-6BE2-9B1E-49B4101293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2900">
                <a:solidFill>
                  <a:srgbClr val="FFFFFF"/>
                </a:solidFill>
                <a:latin typeface="Inter Medium"/>
                <a:ea typeface="Inter Medium"/>
                <a:cs typeface="Inter Medium"/>
              </a:defRPr>
            </a:pPr>
            <a:r>
              <a:t>Outstanding actions as of 2026-12-01</a:t>
            </a:r>
          </a:p>
        </p:txBody>
      </p:sp>
      <p:sp>
        <p:nvSpPr>
          <p:cNvPr id="10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40C911A7-2999-5B10-850F-7785C571AE51}"/>
              </a:ext>
            </a:extLst>
          </p:cNvPr>
          <p:cNvSpPr>
            <a:spLocks xmlns:a="http://schemas.openxmlformats.org/drawingml/2006/main" noGrp="1"/>
          </p:cNvSpPr>
          <p:nvPr>
            <p:ph idx="4294967295"/>
          </p:nvPr>
        </p:nvSpPr>
        <p:spPr>
          <a:xfrm xmlns:a="http://schemas.openxmlformats.org/drawingml/2006/main">
            <a:off x="393700" y="2032000"/>
            <a:ext cx="5537200" cy="1643063"/>
          </a:xfr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35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2400">
                <a:solidFill>
                  <a:srgbClr val="BCEF59"/>
                </a:solidFill>
                <a:latin typeface="Inter Medium"/>
                <a:ea typeface="Inter Medium"/>
                <a:cs typeface="Inter Medium"/>
              </a:rPr>
              <a:t>Investigation target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Verify mean investigation time ≤42 minutes against the agreed 60-minute baseline.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Ruben Cherise (Implementation)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Due: 2026-12-18. Open. [S1, S2]</a:t>
            </a:r>
          </a:p>
        </p:txBody>
      </p:sp>
      <p:sp>
        <p:nvSpPr>
          <p:cNvPr id="11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9591DE77-626F-6364-307D-6A3CECC3E0AC}"/>
              </a:ext>
            </a:extLst>
          </p:cNvPr>
          <p:cNvSpPr>
            <a:spLocks xmlns:a="http://schemas.openxmlformats.org/drawingml/2006/main" noGrp="1"/>
          </p:cNvSpPr>
          <p:nvPr>
            <p:ph idx="4294967295"/>
          </p:nvPr>
        </p:nvSpPr>
        <p:spPr>
          <a:xfrm xmlns:a="http://schemas.openxmlformats.org/drawingml/2006/main">
            <a:off x="6256618" y="2032000"/>
            <a:ext cx="5537200" cy="1643063"/>
          </a:xfr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35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2400">
                <a:solidFill>
                  <a:srgbClr val="BCEF59"/>
                </a:solidFill>
                <a:latin typeface="Inter Medium"/>
                <a:ea typeface="Inter Medium"/>
                <a:cs typeface="Inter Medium"/>
              </a:rPr>
              <a:t>Training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Confirm the customer training session and record the agreed date.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Althea Cassidy (Customer Success)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Due: Not confirmed. Open. [S3]</a:t>
            </a:r>
          </a:p>
        </p:txBody>
      </p:sp>
      <p:sp>
        <p:nvSpPr>
          <p:cNvPr id="4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5FBFFE27-6CE4-D49E-8371-7F40817D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4016975"/>
            <a:ext cx="5537200" cy="16431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l">
              <a:spcBef>
                <a:spcPts val="0"/>
              </a:spcBef>
              <a:spcAft>
                <a:spcPts val="35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2400">
                <a:solidFill>
                  <a:srgbClr val="BCEF59"/>
                </a:solidFill>
                <a:latin typeface="Inter Medium"/>
                <a:ea typeface="Inter Medium"/>
                <a:cs typeface="Inter Medium"/>
              </a:rPr>
              <a:t>QBR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Confirm the first QBR date with the customer.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Althea Cassidy (Customer Success)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Due: Not confirmed. Open. [S3]</a:t>
            </a:r>
          </a:p>
        </p:txBody>
      </p:sp>
      <p:sp>
        <p:nvSpPr>
          <p:cNvPr id="5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D6F50C40-7DBA-55A3-751E-00E97654E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618" y="4016975"/>
            <a:ext cx="5537200" cy="16431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/>
            </a:r>
          </a:p>
        </p:txBody>
      </p:sp>
      <p:sp>
        <p:nvSpPr>
          <p:cNvPr id="12" name="Baton policy footer">
            <a:extLst xmlns:a="http://schemas.openxmlformats.org/drawingml/2006/main">
              <a:ext uri="{FF2B5EF4-FFF2-40B4-BE49-F238E27FC236}">
                <a16:creationId xmlns:a16="http://schemas.microsoft.com/office/drawing/2014/main" id="{542D05DD-DC8C-4CB0-A5BC-46FD45C88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6279928"/>
            <a:ext cx="10382250" cy="241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>Baton / Current account view / Simulated example</a:t>
            </a:r>
          </a:p>
        </p:txBody>
      </p:sp>
    </p:spTree>
    <p:extLst>
      <p:ext uri="{BB962C8B-B14F-4D97-AF65-F5344CB8AC3E}">
        <p14:creationId xmlns:p14="http://schemas.microsoft.com/office/powerpoint/2010/main" val="36014548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79D819C-33DB-D779-0CC9-74786C7AA64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/>
            </a:r>
          </a:p>
        </p:txBody>
      </p:sp>
      <p:sp>
        <p:nvSpPr>
          <p:cNvPr id="2" name="Slide Number Placeholder 1">
            <a:extLst xmlns:a="http://schemas.openxmlformats.org/drawingml/2006/main">
              <a:ext uri="{FF2B5EF4-FFF2-40B4-BE49-F238E27FC236}">
                <a16:creationId xmlns:a16="http://schemas.microsoft.com/office/drawing/2014/main" id="{6B79DB2A-CC47-00B8-FE1C-26473E47EA9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188" y="6278563"/>
            <a:ext cx="519112" cy="241300"/>
          </a:xfr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>4</a:t>
            </a:r>
          </a:p>
        </p:txBody>
      </p:sp>
      <p:sp>
        <p:nvSpPr>
          <p:cNvPr id="3" name="Title 2">
            <a:extLst xmlns:a="http://schemas.openxmlformats.org/drawingml/2006/main">
              <a:ext uri="{FF2B5EF4-FFF2-40B4-BE49-F238E27FC236}">
                <a16:creationId xmlns:a16="http://schemas.microsoft.com/office/drawing/2014/main" id="{89BFFB18-4CB5-6BE2-9B1E-49B4101293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2900">
                <a:solidFill>
                  <a:srgbClr val="FFFFFF"/>
                </a:solidFill>
                <a:latin typeface="Inter Medium"/>
                <a:ea typeface="Inter Medium"/>
                <a:cs typeface="Inter Medium"/>
              </a:defRPr>
            </a:pPr>
            <a:r>
              <a:t>2026-09-16 handoff: Sales to Implementation</a:t>
            </a:r>
          </a:p>
        </p:txBody>
      </p:sp>
      <p:sp>
        <p:nvSpPr>
          <p:cNvPr id="10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40C911A7-2999-5B10-850F-7785C571AE51}"/>
              </a:ext>
            </a:extLst>
          </p:cNvPr>
          <p:cNvSpPr>
            <a:spLocks xmlns:a="http://schemas.openxmlformats.org/drawingml/2006/main" noGrp="1"/>
          </p:cNvSpPr>
          <p:nvPr>
            <p:ph idx="4294967295"/>
          </p:nvPr>
        </p:nvSpPr>
        <p:spPr>
          <a:xfrm xmlns:a="http://schemas.openxmlformats.org/drawingml/2006/main">
            <a:off x="393700" y="2032000"/>
            <a:ext cx="5537200" cy="1643063"/>
          </a:xfr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35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2400">
                <a:solidFill>
                  <a:srgbClr val="BCEF59"/>
                </a:solidFill>
                <a:latin typeface="Inter Medium"/>
                <a:ea typeface="Inter Medium"/>
                <a:cs typeface="Inter Medium"/>
              </a:rPr>
              <a:t>Ownership transfer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Samson Delilah (Sales) to Ruben Cherise (Implementation).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Closed Won purchase moves into the agreed implementation plan. [S1]</a:t>
            </a:r>
          </a:p>
        </p:txBody>
      </p:sp>
      <p:sp>
        <p:nvSpPr>
          <p:cNvPr id="11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9591DE77-626F-6364-307D-6A3CECC3E0AC}"/>
              </a:ext>
            </a:extLst>
          </p:cNvPr>
          <p:cNvSpPr>
            <a:spLocks xmlns:a="http://schemas.openxmlformats.org/drawingml/2006/main" noGrp="1"/>
          </p:cNvSpPr>
          <p:nvPr>
            <p:ph idx="4294967295"/>
          </p:nvPr>
        </p:nvSpPr>
        <p:spPr>
          <a:xfrm xmlns:a="http://schemas.openxmlformats.org/drawingml/2006/main">
            <a:off x="6256618" y="2032000"/>
            <a:ext cx="5537200" cy="1643063"/>
          </a:xfr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35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2400">
                <a:solidFill>
                  <a:srgbClr val="BCEF59"/>
                </a:solidFill>
                <a:latin typeface="Inter Medium"/>
                <a:ea typeface="Inter Medium"/>
                <a:cs typeface="Inter Medium"/>
              </a:rPr>
              <a:t>Readiness: Ready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Agreed owners, rollout dates and measures support implementation. SSO remains a rollout gate; the December investigation-time goal is still due. [S1, S4]</a:t>
            </a:r>
          </a:p>
        </p:txBody>
      </p:sp>
      <p:sp>
        <p:nvSpPr>
          <p:cNvPr id="4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5FBFFE27-6CE4-D49E-8371-7F40817D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4016975"/>
            <a:ext cx="5537200" cy="16431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l">
              <a:spcBef>
                <a:spcPts val="0"/>
              </a:spcBef>
              <a:spcAft>
                <a:spcPts val="35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2400">
                <a:solidFill>
                  <a:srgbClr val="BCEF59"/>
                </a:solidFill>
                <a:latin typeface="Inter Medium"/>
                <a:ea typeface="Inter Medium"/>
                <a:cs typeface="Inter Medium"/>
              </a:rPr>
              <a:t>Customer goals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Unify security operations across six venues and provide monthly executive reporting. [S2, S4]</a:t>
            </a:r>
          </a:p>
        </p:txBody>
      </p:sp>
      <p:sp>
        <p:nvSpPr>
          <p:cNvPr id="5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D6F50C40-7DBA-55A3-751E-00E97654E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618" y="4016975"/>
            <a:ext cx="5537200" cy="16431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l">
              <a:spcBef>
                <a:spcPts val="0"/>
              </a:spcBef>
              <a:spcAft>
                <a:spcPts val="35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2400">
                <a:solidFill>
                  <a:srgbClr val="BCEF59"/>
                </a:solidFill>
                <a:latin typeface="Inter Medium"/>
                <a:ea typeface="Inter Medium"/>
                <a:cs typeface="Inter Medium"/>
              </a:rPr>
              <a:t>Stakeholders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Scarlet Begonia: executive sponsor. Casey Jones: customer technical owner. Jack Straw: procurement contact. [S4, S5, S6, S7]</a:t>
            </a:r>
          </a:p>
        </p:txBody>
      </p:sp>
      <p:sp>
        <p:nvSpPr>
          <p:cNvPr id="12" name="Baton policy footer">
            <a:extLst xmlns:a="http://schemas.openxmlformats.org/drawingml/2006/main">
              <a:ext uri="{FF2B5EF4-FFF2-40B4-BE49-F238E27FC236}">
                <a16:creationId xmlns:a16="http://schemas.microsoft.com/office/drawing/2014/main" id="{11883861-A741-4434-BB24-E336F300E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6279928"/>
            <a:ext cx="10382250" cy="241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>Baton / Sales handoff policy / Historical snapshot / Simulated example</a:t>
            </a:r>
          </a:p>
        </p:txBody>
      </p:sp>
    </p:spTree>
    <p:extLst>
      <p:ext uri="{BB962C8B-B14F-4D97-AF65-F5344CB8AC3E}">
        <p14:creationId xmlns:p14="http://schemas.microsoft.com/office/powerpoint/2010/main" val="36014548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79D819C-33DB-D779-0CC9-74786C7AA64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/>
            </a:r>
          </a:p>
        </p:txBody>
      </p:sp>
      <p:sp>
        <p:nvSpPr>
          <p:cNvPr id="2" name="Slide Number Placeholder 1">
            <a:extLst xmlns:a="http://schemas.openxmlformats.org/drawingml/2006/main">
              <a:ext uri="{FF2B5EF4-FFF2-40B4-BE49-F238E27FC236}">
                <a16:creationId xmlns:a16="http://schemas.microsoft.com/office/drawing/2014/main" id="{6B79DB2A-CC47-00B8-FE1C-26473E47EA9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188" y="6278563"/>
            <a:ext cx="519112" cy="241300"/>
          </a:xfr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>5</a:t>
            </a:r>
          </a:p>
        </p:txBody>
      </p:sp>
      <p:sp>
        <p:nvSpPr>
          <p:cNvPr id="3" name="Title 2">
            <a:extLst xmlns:a="http://schemas.openxmlformats.org/drawingml/2006/main">
              <a:ext uri="{FF2B5EF4-FFF2-40B4-BE49-F238E27FC236}">
                <a16:creationId xmlns:a16="http://schemas.microsoft.com/office/drawing/2014/main" id="{89BFFB18-4CB5-6BE2-9B1E-49B4101293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2900">
                <a:solidFill>
                  <a:srgbClr val="FFFFFF"/>
                </a:solidFill>
                <a:latin typeface="Inter Medium"/>
                <a:ea typeface="Inter Medium"/>
                <a:cs typeface="Inter Medium"/>
              </a:defRPr>
            </a:pPr>
            <a:r>
              <a:t>2026-09-16 commitments and follow-up</a:t>
            </a:r>
          </a:p>
        </p:txBody>
      </p:sp>
      <p:sp>
        <p:nvSpPr>
          <p:cNvPr id="10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40C911A7-2999-5B10-850F-7785C571AE51}"/>
              </a:ext>
            </a:extLst>
          </p:cNvPr>
          <p:cNvSpPr>
            <a:spLocks xmlns:a="http://schemas.openxmlformats.org/drawingml/2006/main" noGrp="1"/>
          </p:cNvSpPr>
          <p:nvPr>
            <p:ph idx="4294967295"/>
          </p:nvPr>
        </p:nvSpPr>
        <p:spPr>
          <a:xfrm xmlns:a="http://schemas.openxmlformats.org/drawingml/2006/main">
            <a:off x="393700" y="2032000"/>
            <a:ext cx="5537200" cy="1643063"/>
          </a:xfr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35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2400">
                <a:solidFill>
                  <a:srgbClr val="BCEF59"/>
                </a:solidFill>
                <a:latin typeface="Inter Medium"/>
                <a:ea typeface="Inter Medium"/>
                <a:cs typeface="Inter Medium"/>
              </a:rPr>
              <a:t>Commitments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SSO Oct 2; corporate pilot Oct 5; venues Nov 2–30. By Dec 18, mean investigation time ≤42 minutes from a 60-minute baseline. [S4]</a:t>
            </a:r>
          </a:p>
        </p:txBody>
      </p:sp>
      <p:sp>
        <p:nvSpPr>
          <p:cNvPr id="11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9591DE77-626F-6364-307D-6A3CECC3E0AC}"/>
              </a:ext>
            </a:extLst>
          </p:cNvPr>
          <p:cNvSpPr>
            <a:spLocks xmlns:a="http://schemas.openxmlformats.org/drawingml/2006/main" noGrp="1"/>
          </p:cNvSpPr>
          <p:nvPr>
            <p:ph idx="4294967295"/>
          </p:nvPr>
        </p:nvSpPr>
        <p:spPr>
          <a:xfrm xmlns:a="http://schemas.openxmlformats.org/drawingml/2006/main">
            <a:off x="6256618" y="2032000"/>
            <a:ext cx="5537200" cy="1643063"/>
          </a:xfr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35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2400">
                <a:solidFill>
                  <a:srgbClr val="BCEF59"/>
                </a:solidFill>
                <a:latin typeface="Inter Medium"/>
                <a:ea typeface="Inter Medium"/>
                <a:cs typeface="Inter Medium"/>
              </a:rPr>
              <a:t>Gaps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None recorded.</a:t>
            </a:r>
          </a:p>
        </p:txBody>
      </p:sp>
      <p:sp>
        <p:nvSpPr>
          <p:cNvPr id="4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5FBFFE27-6CE4-D49E-8371-7F40817D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4016975"/>
            <a:ext cx="5537200" cy="16431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l">
              <a:spcBef>
                <a:spcPts val="0"/>
              </a:spcBef>
              <a:spcAft>
                <a:spcPts val="35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2400">
                <a:solidFill>
                  <a:srgbClr val="BCEF59"/>
                </a:solidFill>
                <a:latin typeface="Inter Medium"/>
                <a:ea typeface="Inter Medium"/>
                <a:cs typeface="Inter Medium"/>
              </a:rPr>
              <a:t>Risks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SSO must pass before broad rollout; identity work needs two weeks’ notice. [S4]</a:t>
            </a:r>
          </a:p>
        </p:txBody>
      </p:sp>
      <p:sp>
        <p:nvSpPr>
          <p:cNvPr id="5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D6F50C40-7DBA-55A3-751E-00E97654E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618" y="4016975"/>
            <a:ext cx="5537200" cy="16431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l">
              <a:spcBef>
                <a:spcPts val="0"/>
              </a:spcBef>
              <a:spcAft>
                <a:spcPts val="35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2400">
                <a:solidFill>
                  <a:srgbClr val="BCEF59"/>
                </a:solidFill>
                <a:latin typeface="Inter Medium"/>
                <a:ea typeface="Inter Medium"/>
                <a:cs typeface="Inter Medium"/>
              </a:rPr>
              <a:t>Kickoff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Schedule implementation kickoff.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Casey Jones (customer)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Due: 2026-09-17. Open. [S4]</a:t>
            </a:r>
          </a:p>
        </p:txBody>
      </p:sp>
      <p:sp>
        <p:nvSpPr>
          <p:cNvPr id="12" name="Baton policy footer">
            <a:extLst xmlns:a="http://schemas.openxmlformats.org/drawingml/2006/main">
              <a:ext uri="{FF2B5EF4-FFF2-40B4-BE49-F238E27FC236}">
                <a16:creationId xmlns:a16="http://schemas.microsoft.com/office/drawing/2014/main" id="{0BF5BF7D-0D77-419F-95A6-EB3A23984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6279928"/>
            <a:ext cx="10382250" cy="241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>Baton / Sales handoff policy / Historical snapshot / Simulated example</a:t>
            </a:r>
          </a:p>
        </p:txBody>
      </p:sp>
    </p:spTree>
    <p:extLst>
      <p:ext uri="{BB962C8B-B14F-4D97-AF65-F5344CB8AC3E}">
        <p14:creationId xmlns:p14="http://schemas.microsoft.com/office/powerpoint/2010/main" val="36014548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79D819C-33DB-D779-0CC9-74786C7AA64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/>
            </a:r>
          </a:p>
        </p:txBody>
      </p:sp>
      <p:sp>
        <p:nvSpPr>
          <p:cNvPr id="2" name="Slide Number Placeholder 1">
            <a:extLst xmlns:a="http://schemas.openxmlformats.org/drawingml/2006/main">
              <a:ext uri="{FF2B5EF4-FFF2-40B4-BE49-F238E27FC236}">
                <a16:creationId xmlns:a16="http://schemas.microsoft.com/office/drawing/2014/main" id="{6B79DB2A-CC47-00B8-FE1C-26473E47EA9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188" y="6278563"/>
            <a:ext cx="519112" cy="241300"/>
          </a:xfr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>6</a:t>
            </a:r>
          </a:p>
        </p:txBody>
      </p:sp>
      <p:sp>
        <p:nvSpPr>
          <p:cNvPr id="3" name="Title 2">
            <a:extLst xmlns:a="http://schemas.openxmlformats.org/drawingml/2006/main">
              <a:ext uri="{FF2B5EF4-FFF2-40B4-BE49-F238E27FC236}">
                <a16:creationId xmlns:a16="http://schemas.microsoft.com/office/drawing/2014/main" id="{89BFFB18-4CB5-6BE2-9B1E-49B4101293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2900">
                <a:solidFill>
                  <a:srgbClr val="FFFFFF"/>
                </a:solidFill>
                <a:latin typeface="Inter Medium"/>
                <a:ea typeface="Inter Medium"/>
                <a:cs typeface="Inter Medium"/>
              </a:defRPr>
            </a:pPr>
            <a:r>
              <a:t>2026-09-16 commitments and follow-up (continued 2)</a:t>
            </a:r>
          </a:p>
        </p:txBody>
      </p:sp>
      <p:sp>
        <p:nvSpPr>
          <p:cNvPr id="10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40C911A7-2999-5B10-850F-7785C571AE51}"/>
              </a:ext>
            </a:extLst>
          </p:cNvPr>
          <p:cNvSpPr>
            <a:spLocks xmlns:a="http://schemas.openxmlformats.org/drawingml/2006/main" noGrp="1"/>
          </p:cNvSpPr>
          <p:nvPr>
            <p:ph idx="4294967295"/>
          </p:nvPr>
        </p:nvSpPr>
        <p:spPr>
          <a:xfrm xmlns:a="http://schemas.openxmlformats.org/drawingml/2006/main">
            <a:off x="393700" y="2032000"/>
            <a:ext cx="5537200" cy="1643063"/>
          </a:xfr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35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2400">
                <a:solidFill>
                  <a:srgbClr val="BCEF59"/>
                </a:solidFill>
                <a:latin typeface="Inter Medium"/>
                <a:ea typeface="Inter Medium"/>
                <a:cs typeface="Inter Medium"/>
              </a:rPr>
              <a:t>Identity notice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Send the identity-team configuration request.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Casey Jones (customer)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Due: 2026-09-18. Open. [S4]</a:t>
            </a:r>
          </a:p>
        </p:txBody>
      </p:sp>
      <p:sp>
        <p:nvSpPr>
          <p:cNvPr id="11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9591DE77-626F-6364-307D-6A3CECC3E0AC}"/>
              </a:ext>
            </a:extLst>
          </p:cNvPr>
          <p:cNvSpPr>
            <a:spLocks xmlns:a="http://schemas.openxmlformats.org/drawingml/2006/main" noGrp="1"/>
          </p:cNvSpPr>
          <p:nvPr>
            <p:ph idx="4294967295"/>
          </p:nvPr>
        </p:nvSpPr>
        <p:spPr>
          <a:xfrm xmlns:a="http://schemas.openxmlformats.org/drawingml/2006/main">
            <a:off x="6256618" y="2032000"/>
            <a:ext cx="5537200" cy="1643063"/>
          </a:xfr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35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2400">
                <a:solidFill>
                  <a:srgbClr val="BCEF59"/>
                </a:solidFill>
                <a:latin typeface="Inter Medium"/>
                <a:ea typeface="Inter Medium"/>
                <a:cs typeface="Inter Medium"/>
              </a:rPr>
              <a:t>Rollout check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Verify six venues report to one dashboard and ≥95% of priority alerts arrive within 15 minutes.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Ruben Cherise (Implementation)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Due: 2026-11-30. Open. [S4, S1]</a:t>
            </a:r>
          </a:p>
        </p:txBody>
      </p:sp>
      <p:sp>
        <p:nvSpPr>
          <p:cNvPr id="4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5FBFFE27-6CE4-D49E-8371-7F40817D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4016975"/>
            <a:ext cx="5537200" cy="16431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l">
              <a:spcBef>
                <a:spcPts val="0"/>
              </a:spcBef>
              <a:spcAft>
                <a:spcPts val="35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2400">
                <a:solidFill>
                  <a:srgbClr val="BCEF59"/>
                </a:solidFill>
                <a:latin typeface="Inter Medium"/>
                <a:ea typeface="Inter Medium"/>
                <a:cs typeface="Inter Medium"/>
              </a:rPr>
              <a:t>Investigation target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Verify mean investigation time ≤42 minutes against the agreed 60-minute baseline.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Ruben Cherise (Implementation)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Due: 2026-12-18. Open. [S4, S1]</a:t>
            </a:r>
          </a:p>
        </p:txBody>
      </p:sp>
      <p:sp>
        <p:nvSpPr>
          <p:cNvPr id="5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D6F50C40-7DBA-55A3-751E-00E97654E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618" y="4016975"/>
            <a:ext cx="5537200" cy="16431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/>
            </a:r>
          </a:p>
        </p:txBody>
      </p:sp>
      <p:sp>
        <p:nvSpPr>
          <p:cNvPr id="12" name="Baton policy footer">
            <a:extLst xmlns:a="http://schemas.openxmlformats.org/drawingml/2006/main">
              <a:ext uri="{FF2B5EF4-FFF2-40B4-BE49-F238E27FC236}">
                <a16:creationId xmlns:a16="http://schemas.microsoft.com/office/drawing/2014/main" id="{9D4AFD3C-6E2C-4244-B3EE-D5B0E96D1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6279928"/>
            <a:ext cx="10382250" cy="241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>Baton / Sales handoff policy / Historical snapshot / Simulated example</a:t>
            </a:r>
          </a:p>
        </p:txBody>
      </p:sp>
    </p:spTree>
    <p:extLst>
      <p:ext uri="{BB962C8B-B14F-4D97-AF65-F5344CB8AC3E}">
        <p14:creationId xmlns:p14="http://schemas.microsoft.com/office/powerpoint/2010/main" val="36014548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79D819C-33DB-D779-0CC9-74786C7AA64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/>
            </a:r>
          </a:p>
        </p:txBody>
      </p:sp>
      <p:sp>
        <p:nvSpPr>
          <p:cNvPr id="2" name="Slide Number Placeholder 1">
            <a:extLst xmlns:a="http://schemas.openxmlformats.org/drawingml/2006/main">
              <a:ext uri="{FF2B5EF4-FFF2-40B4-BE49-F238E27FC236}">
                <a16:creationId xmlns:a16="http://schemas.microsoft.com/office/drawing/2014/main" id="{6B79DB2A-CC47-00B8-FE1C-26473E47EA9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188" y="6278563"/>
            <a:ext cx="519112" cy="241300"/>
          </a:xfr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>7</a:t>
            </a:r>
          </a:p>
        </p:txBody>
      </p:sp>
      <p:sp>
        <p:nvSpPr>
          <p:cNvPr id="3" name="Title 2">
            <a:extLst xmlns:a="http://schemas.openxmlformats.org/drawingml/2006/main">
              <a:ext uri="{FF2B5EF4-FFF2-40B4-BE49-F238E27FC236}">
                <a16:creationId xmlns:a16="http://schemas.microsoft.com/office/drawing/2014/main" id="{89BFFB18-4CB5-6BE2-9B1E-49B4101293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2900">
                <a:solidFill>
                  <a:srgbClr val="FFFFFF"/>
                </a:solidFill>
                <a:latin typeface="Inter Medium"/>
                <a:ea typeface="Inter Medium"/>
                <a:cs typeface="Inter Medium"/>
              </a:defRPr>
            </a:pPr>
            <a:r>
              <a:t>2026-12-01 handoff: Implementation to Customer Success</a:t>
            </a:r>
          </a:p>
        </p:txBody>
      </p:sp>
      <p:sp>
        <p:nvSpPr>
          <p:cNvPr id="10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40C911A7-2999-5B10-850F-7785C571AE51}"/>
              </a:ext>
            </a:extLst>
          </p:cNvPr>
          <p:cNvSpPr>
            <a:spLocks xmlns:a="http://schemas.openxmlformats.org/drawingml/2006/main" noGrp="1"/>
          </p:cNvSpPr>
          <p:nvPr>
            <p:ph idx="4294967295"/>
          </p:nvPr>
        </p:nvSpPr>
        <p:spPr>
          <a:xfrm xmlns:a="http://schemas.openxmlformats.org/drawingml/2006/main">
            <a:off x="393700" y="2032000"/>
            <a:ext cx="5537200" cy="1643063"/>
          </a:xfr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35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2400">
                <a:solidFill>
                  <a:srgbClr val="BCEF59"/>
                </a:solidFill>
                <a:latin typeface="Inter Medium"/>
                <a:ea typeface="Inter Medium"/>
                <a:cs typeface="Inter Medium"/>
              </a:rPr>
              <a:t>Ownership transfer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Ruben Cherise (Implementation) to Althea Cassidy (Customer Success).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Implementation milestone review transfers ongoing customer ownership to Customer Success. [S1]</a:t>
            </a:r>
          </a:p>
        </p:txBody>
      </p:sp>
      <p:sp>
        <p:nvSpPr>
          <p:cNvPr id="11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9591DE77-626F-6364-307D-6A3CECC3E0AC}"/>
              </a:ext>
            </a:extLst>
          </p:cNvPr>
          <p:cNvSpPr>
            <a:spLocks xmlns:a="http://schemas.openxmlformats.org/drawingml/2006/main" noGrp="1"/>
          </p:cNvSpPr>
          <p:nvPr>
            <p:ph idx="4294967295"/>
          </p:nvPr>
        </p:nvSpPr>
        <p:spPr>
          <a:xfrm xmlns:a="http://schemas.openxmlformats.org/drawingml/2006/main">
            <a:off x="6256618" y="2032000"/>
            <a:ext cx="5537200" cy="1643063"/>
          </a:xfr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35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2400">
                <a:solidFill>
                  <a:srgbClr val="BCEF59"/>
                </a:solidFill>
                <a:latin typeface="Inter Medium"/>
                <a:ea typeface="Inter Medium"/>
                <a:cs typeface="Inter Medium"/>
              </a:rPr>
              <a:t>Readiness: Needs Review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Six venues are reporting and 96% of priority alerts arrive within 15 minutes. Training and QBR dates remain unconfirmed; the Dec 18 goal remains open. [S1, S3]</a:t>
            </a:r>
          </a:p>
        </p:txBody>
      </p:sp>
      <p:sp>
        <p:nvSpPr>
          <p:cNvPr id="4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5FBFFE27-6CE4-D49E-8371-7F40817D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4016975"/>
            <a:ext cx="5537200" cy="16431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l">
              <a:spcBef>
                <a:spcPts val="0"/>
              </a:spcBef>
              <a:spcAft>
                <a:spcPts val="35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2400">
                <a:solidFill>
                  <a:srgbClr val="BCEF59"/>
                </a:solidFill>
                <a:latin typeface="Inter Medium"/>
                <a:ea typeface="Inter Medium"/>
                <a:cs typeface="Inter Medium"/>
              </a:rPr>
              <a:t>Customer goals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Maintain a single security view across six venues and monthly executive reporting. [S1, S2]</a:t>
            </a:r>
          </a:p>
        </p:txBody>
      </p:sp>
      <p:sp>
        <p:nvSpPr>
          <p:cNvPr id="5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D6F50C40-7DBA-55A3-751E-00E97654E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618" y="4016975"/>
            <a:ext cx="5537200" cy="16431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l">
              <a:spcBef>
                <a:spcPts val="0"/>
              </a:spcBef>
              <a:spcAft>
                <a:spcPts val="35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2400">
                <a:solidFill>
                  <a:srgbClr val="BCEF59"/>
                </a:solidFill>
                <a:latin typeface="Inter Medium"/>
                <a:ea typeface="Inter Medium"/>
                <a:cs typeface="Inter Medium"/>
              </a:rPr>
              <a:t>Stakeholders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Althea Cassidy owns Customer Success. Scarlet remains sponsor; Casey remains the customer technical owner. [S1]</a:t>
            </a:r>
          </a:p>
        </p:txBody>
      </p:sp>
      <p:sp>
        <p:nvSpPr>
          <p:cNvPr id="12" name="Baton policy footer">
            <a:extLst xmlns:a="http://schemas.openxmlformats.org/drawingml/2006/main">
              <a:ext uri="{FF2B5EF4-FFF2-40B4-BE49-F238E27FC236}">
                <a16:creationId xmlns:a16="http://schemas.microsoft.com/office/drawing/2014/main" id="{FAB4A5A0-9559-461E-A2AE-3E146DFE3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6279928"/>
            <a:ext cx="10382250" cy="241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>Baton / Internal transfer policy / Historical snapshot / Simulated example</a:t>
            </a:r>
          </a:p>
        </p:txBody>
      </p:sp>
    </p:spTree>
    <p:extLst>
      <p:ext uri="{BB962C8B-B14F-4D97-AF65-F5344CB8AC3E}">
        <p14:creationId xmlns:p14="http://schemas.microsoft.com/office/powerpoint/2010/main" val="36014548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79D819C-33DB-D779-0CC9-74786C7AA64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/>
            </a:r>
          </a:p>
        </p:txBody>
      </p:sp>
      <p:sp>
        <p:nvSpPr>
          <p:cNvPr id="2" name="Slide Number Placeholder 1">
            <a:extLst xmlns:a="http://schemas.openxmlformats.org/drawingml/2006/main">
              <a:ext uri="{FF2B5EF4-FFF2-40B4-BE49-F238E27FC236}">
                <a16:creationId xmlns:a16="http://schemas.microsoft.com/office/drawing/2014/main" id="{6B79DB2A-CC47-00B8-FE1C-26473E47EA9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188" y="6278563"/>
            <a:ext cx="519112" cy="241300"/>
          </a:xfr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>8</a:t>
            </a:r>
          </a:p>
        </p:txBody>
      </p:sp>
      <p:sp>
        <p:nvSpPr>
          <p:cNvPr id="3" name="Title 2">
            <a:extLst xmlns:a="http://schemas.openxmlformats.org/drawingml/2006/main">
              <a:ext uri="{FF2B5EF4-FFF2-40B4-BE49-F238E27FC236}">
                <a16:creationId xmlns:a16="http://schemas.microsoft.com/office/drawing/2014/main" id="{89BFFB18-4CB5-6BE2-9B1E-49B4101293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2900">
                <a:solidFill>
                  <a:srgbClr val="FFFFFF"/>
                </a:solidFill>
                <a:latin typeface="Inter Medium"/>
                <a:ea typeface="Inter Medium"/>
                <a:cs typeface="Inter Medium"/>
              </a:defRPr>
            </a:pPr>
            <a:r>
              <a:t>2026-12-01 commitments and follow-up</a:t>
            </a:r>
          </a:p>
        </p:txBody>
      </p:sp>
      <p:sp>
        <p:nvSpPr>
          <p:cNvPr id="10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40C911A7-2999-5B10-850F-7785C571AE51}"/>
              </a:ext>
            </a:extLst>
          </p:cNvPr>
          <p:cNvSpPr>
            <a:spLocks xmlns:a="http://schemas.openxmlformats.org/drawingml/2006/main" noGrp="1"/>
          </p:cNvSpPr>
          <p:nvPr>
            <p:ph idx="4294967295"/>
          </p:nvPr>
        </p:nvSpPr>
        <p:spPr>
          <a:xfrm xmlns:a="http://schemas.openxmlformats.org/drawingml/2006/main">
            <a:off x="393700" y="2032000"/>
            <a:ext cx="5537200" cy="1643063"/>
          </a:xfr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35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2400">
                <a:solidFill>
                  <a:srgbClr val="BCEF59"/>
                </a:solidFill>
                <a:latin typeface="Inter Medium"/>
                <a:ea typeface="Inter Medium"/>
                <a:cs typeface="Inter Medium"/>
              </a:rPr>
              <a:t>Commitments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All six venues report; 96% of priority alerts arrive within 15 minutes. The ≤42-minute investigation target remains due Dec 18. [S1, S3]</a:t>
            </a:r>
          </a:p>
        </p:txBody>
      </p:sp>
      <p:sp>
        <p:nvSpPr>
          <p:cNvPr id="11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9591DE77-626F-6364-307D-6A3CECC3E0AC}"/>
              </a:ext>
            </a:extLst>
          </p:cNvPr>
          <p:cNvSpPr>
            <a:spLocks xmlns:a="http://schemas.openxmlformats.org/drawingml/2006/main" noGrp="1"/>
          </p:cNvSpPr>
          <p:nvPr>
            <p:ph idx="4294967295"/>
          </p:nvPr>
        </p:nvSpPr>
        <p:spPr>
          <a:xfrm xmlns:a="http://schemas.openxmlformats.org/drawingml/2006/main">
            <a:off x="6256618" y="2032000"/>
            <a:ext cx="5537200" cy="1643063"/>
          </a:xfr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35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2400">
                <a:solidFill>
                  <a:srgbClr val="BCEF59"/>
                </a:solidFill>
                <a:latin typeface="Inter Medium"/>
                <a:ea typeface="Inter Medium"/>
                <a:cs typeface="Inter Medium"/>
              </a:rPr>
              <a:t>Gaps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Customer training session and first QBR date: Not Confirmed. [S1]</a:t>
            </a:r>
          </a:p>
        </p:txBody>
      </p:sp>
      <p:sp>
        <p:nvSpPr>
          <p:cNvPr id="4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5FBFFE27-6CE4-D49E-8371-7F40817D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4016975"/>
            <a:ext cx="5537200" cy="16431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l">
              <a:spcBef>
                <a:spcPts val="0"/>
              </a:spcBef>
              <a:spcAft>
                <a:spcPts val="35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2400">
                <a:solidFill>
                  <a:srgbClr val="BCEF59"/>
                </a:solidFill>
                <a:latin typeface="Inter Medium"/>
                <a:ea typeface="Inter Medium"/>
                <a:cs typeface="Inter Medium"/>
              </a:rPr>
              <a:t>Risks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Do not treat rollout metrics as proof of the investigation-time goal; its final measurement is still outstanding. [S1]</a:t>
            </a:r>
          </a:p>
        </p:txBody>
      </p:sp>
      <p:sp>
        <p:nvSpPr>
          <p:cNvPr id="5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D6F50C40-7DBA-55A3-751E-00E97654E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618" y="4016975"/>
            <a:ext cx="5537200" cy="16431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l">
              <a:spcBef>
                <a:spcPts val="0"/>
              </a:spcBef>
              <a:spcAft>
                <a:spcPts val="35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2400">
                <a:solidFill>
                  <a:srgbClr val="BCEF59"/>
                </a:solidFill>
                <a:latin typeface="Inter Medium"/>
                <a:ea typeface="Inter Medium"/>
                <a:cs typeface="Inter Medium"/>
              </a:rPr>
              <a:t>Kickoff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Schedule implementation kickoff.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Casey Jones (customer)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Due: 2026-09-17. Done. [S1]</a:t>
            </a:r>
          </a:p>
        </p:txBody>
      </p:sp>
      <p:sp>
        <p:nvSpPr>
          <p:cNvPr id="12" name="Baton policy footer">
            <a:extLst xmlns:a="http://schemas.openxmlformats.org/drawingml/2006/main">
              <a:ext uri="{FF2B5EF4-FFF2-40B4-BE49-F238E27FC236}">
                <a16:creationId xmlns:a16="http://schemas.microsoft.com/office/drawing/2014/main" id="{78AA839C-AEB3-4BBC-A5AB-9D76DE73C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6279928"/>
            <a:ext cx="10382250" cy="241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>Baton / Internal transfer policy / Historical snapshot / Simulated example</a:t>
            </a:r>
          </a:p>
        </p:txBody>
      </p:sp>
    </p:spTree>
    <p:extLst>
      <p:ext uri="{BB962C8B-B14F-4D97-AF65-F5344CB8AC3E}">
        <p14:creationId xmlns:p14="http://schemas.microsoft.com/office/powerpoint/2010/main" val="36014548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79D819C-33DB-D779-0CC9-74786C7AA64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93700" y="6279952"/>
            <a:ext cx="3568700" cy="241240"/>
          </a:xfr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/>
            </a:r>
          </a:p>
        </p:txBody>
      </p:sp>
      <p:sp>
        <p:nvSpPr>
          <p:cNvPr id="2" name="Slide Number Placeholder 1">
            <a:extLst xmlns:a="http://schemas.openxmlformats.org/drawingml/2006/main">
              <a:ext uri="{FF2B5EF4-FFF2-40B4-BE49-F238E27FC236}">
                <a16:creationId xmlns:a16="http://schemas.microsoft.com/office/drawing/2014/main" id="{6B79DB2A-CC47-00B8-FE1C-26473E47EA9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279188" y="6278563"/>
            <a:ext cx="519112" cy="241300"/>
          </a:xfr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marL="0" indent="0" algn="r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>9</a:t>
            </a:r>
          </a:p>
        </p:txBody>
      </p:sp>
      <p:sp>
        <p:nvSpPr>
          <p:cNvPr id="3" name="Title 2">
            <a:extLst xmlns:a="http://schemas.openxmlformats.org/drawingml/2006/main">
              <a:ext uri="{FF2B5EF4-FFF2-40B4-BE49-F238E27FC236}">
                <a16:creationId xmlns:a16="http://schemas.microsoft.com/office/drawing/2014/main" id="{89BFFB18-4CB5-6BE2-9B1E-49B4101293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93700" y="344008"/>
            <a:ext cx="11404600" cy="1047491"/>
          </a:xfr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2900">
                <a:solidFill>
                  <a:srgbClr val="FFFFFF"/>
                </a:solidFill>
                <a:latin typeface="Inter Medium"/>
                <a:ea typeface="Inter Medium"/>
                <a:cs typeface="Inter Medium"/>
              </a:defRPr>
            </a:pPr>
            <a:r>
              <a:t>2026-12-01 commitments and follow-up (continued 2)</a:t>
            </a:r>
          </a:p>
        </p:txBody>
      </p:sp>
      <p:sp>
        <p:nvSpPr>
          <p:cNvPr id="10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40C911A7-2999-5B10-850F-7785C571AE51}"/>
              </a:ext>
            </a:extLst>
          </p:cNvPr>
          <p:cNvSpPr>
            <a:spLocks xmlns:a="http://schemas.openxmlformats.org/drawingml/2006/main" noGrp="1"/>
          </p:cNvSpPr>
          <p:nvPr>
            <p:ph idx="4294967295"/>
          </p:nvPr>
        </p:nvSpPr>
        <p:spPr>
          <a:xfrm xmlns:a="http://schemas.openxmlformats.org/drawingml/2006/main">
            <a:off x="393700" y="2032000"/>
            <a:ext cx="5537200" cy="1643063"/>
          </a:xfr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35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2400">
                <a:solidFill>
                  <a:srgbClr val="BCEF59"/>
                </a:solidFill>
                <a:latin typeface="Inter Medium"/>
                <a:ea typeface="Inter Medium"/>
                <a:cs typeface="Inter Medium"/>
              </a:rPr>
              <a:t>Identity notice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Send the identity-team configuration request.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Casey Jones (customer)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Due: 2026-09-18. Done. [S1]</a:t>
            </a:r>
          </a:p>
        </p:txBody>
      </p:sp>
      <p:sp>
        <p:nvSpPr>
          <p:cNvPr id="11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9591DE77-626F-6364-307D-6A3CECC3E0AC}"/>
              </a:ext>
            </a:extLst>
          </p:cNvPr>
          <p:cNvSpPr>
            <a:spLocks xmlns:a="http://schemas.openxmlformats.org/drawingml/2006/main" noGrp="1"/>
          </p:cNvSpPr>
          <p:nvPr>
            <p:ph idx="4294967295"/>
          </p:nvPr>
        </p:nvSpPr>
        <p:spPr>
          <a:xfrm xmlns:a="http://schemas.openxmlformats.org/drawingml/2006/main">
            <a:off x="6256618" y="2032000"/>
            <a:ext cx="5537200" cy="1643063"/>
          </a:xfr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35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2400">
                <a:solidFill>
                  <a:srgbClr val="BCEF59"/>
                </a:solidFill>
                <a:latin typeface="Inter Medium"/>
                <a:ea typeface="Inter Medium"/>
                <a:cs typeface="Inter Medium"/>
              </a:rPr>
              <a:t>Rollout check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Verify six venues report to one dashboard and ≥95% of priority alerts arrive within 15 minutes.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Ruben Cherise (Implementation)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Due: 2026-11-30. Done. [S1]</a:t>
            </a:r>
          </a:p>
        </p:txBody>
      </p:sp>
      <p:sp>
        <p:nvSpPr>
          <p:cNvPr id="4" name="Content Placeholder 9">
            <a:extLst xmlns:a="http://schemas.openxmlformats.org/drawingml/2006/main">
              <a:ext uri="{FF2B5EF4-FFF2-40B4-BE49-F238E27FC236}">
                <a16:creationId xmlns:a16="http://schemas.microsoft.com/office/drawing/2014/main" id="{5FBFFE27-6CE4-D49E-8371-7F40817D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00" y="4016975"/>
            <a:ext cx="5537200" cy="16431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l">
              <a:spcBef>
                <a:spcPts val="0"/>
              </a:spcBef>
              <a:spcAft>
                <a:spcPts val="35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2400">
                <a:solidFill>
                  <a:srgbClr val="BCEF59"/>
                </a:solidFill>
                <a:latin typeface="Inter Medium"/>
                <a:ea typeface="Inter Medium"/>
                <a:cs typeface="Inter Medium"/>
              </a:rPr>
              <a:t>Training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Confirm the customer training session and record the agreed date.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Althea Cassidy (Customer Success)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Due: Not confirmed. Open. [S1]</a:t>
            </a:r>
          </a:p>
        </p:txBody>
      </p:sp>
      <p:sp>
        <p:nvSpPr>
          <p:cNvPr id="5" name="Content Placeholder 10">
            <a:extLst xmlns:a="http://schemas.openxmlformats.org/drawingml/2006/main">
              <a:ext uri="{FF2B5EF4-FFF2-40B4-BE49-F238E27FC236}">
                <a16:creationId xmlns:a16="http://schemas.microsoft.com/office/drawing/2014/main" id="{D6F50C40-7DBA-55A3-751E-00E97654E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618" y="4016975"/>
            <a:ext cx="5537200" cy="16431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0" tIns="0" rIns="0" bIns="0" anchor="t">
            <a:noAutofit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l">
              <a:spcBef>
                <a:spcPts val="0"/>
              </a:spcBef>
              <a:spcAft>
                <a:spcPts val="35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2400">
                <a:solidFill>
                  <a:srgbClr val="BCEF59"/>
                </a:solidFill>
                <a:latin typeface="Inter Medium"/>
                <a:ea typeface="Inter Medium"/>
                <a:cs typeface="Inter Medium"/>
              </a:rPr>
              <a:t>QBR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Confirm the first QBR date with the customer.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Althea Cassidy (Customer Success)</a:t>
            </a:r>
          </a:p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rPr sz="1800">
                <a:solidFill>
                  <a:srgbClr val="FFFFFF"/>
                </a:solidFill>
                <a:latin typeface="Inter"/>
                <a:ea typeface="Inter"/>
                <a:cs typeface="Inter"/>
              </a:rPr>
              <a:t>Due: Not confirmed. Open. [S1]</a:t>
            </a:r>
          </a:p>
        </p:txBody>
      </p:sp>
      <p:sp>
        <p:nvSpPr>
          <p:cNvPr id="12" name="Baton policy footer">
            <a:extLst xmlns:a="http://schemas.openxmlformats.org/drawingml/2006/main">
              <a:ext uri="{FF2B5EF4-FFF2-40B4-BE49-F238E27FC236}">
                <a16:creationId xmlns:a16="http://schemas.microsoft.com/office/drawing/2014/main" id="{34230059-5B2C-47ED-8E9B-351050983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6279928"/>
            <a:ext cx="10382250" cy="241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rgbClr val="FFFFFF"/>
                </a:solidFill>
                <a:latin typeface="Inter"/>
                <a:ea typeface="Inter"/>
                <a:cs typeface="Inter"/>
              </a:defRPr>
            </a:pPr>
            <a:r>
              <a:t>Baton / Internal transfer policy / Historical snapshot / Simulated example</a:t>
            </a:r>
          </a:p>
        </p:txBody>
      </p:sp>
    </p:spTree>
    <p:extLst>
      <p:ext uri="{BB962C8B-B14F-4D97-AF65-F5344CB8AC3E}">
        <p14:creationId xmlns:p14="http://schemas.microsoft.com/office/powerpoint/2010/main" val="360145486"/>
      </p:ext>
    </p:extLst>
  </p:cSld>
</p:sld>
</file>

<file path=ppt/theme/theme1.xml><?xml version="1.0" encoding="utf-8"?>
<a:theme xmlns:a="http://schemas.openxmlformats.org/drawingml/2006/main" name="Default Codex Theme">
  <a:themeElements>
    <a:clrScheme name="Codex Colors">
      <a:dk1>
        <a:srgbClr val="000000"/>
      </a:dk1>
      <a:lt1>
        <a:srgbClr val="FFFFFF"/>
      </a:lt1>
      <a:dk2>
        <a:srgbClr val="00264F"/>
      </a:dk2>
      <a:lt2>
        <a:srgbClr val="D0EDFA"/>
      </a:lt2>
      <a:accent1>
        <a:srgbClr val="6DCBF4"/>
      </a:accent1>
      <a:accent2>
        <a:srgbClr val="3D8DFF"/>
      </a:accent2>
      <a:accent3>
        <a:srgbClr val="47E2C2"/>
      </a:accent3>
      <a:accent4>
        <a:srgbClr val="85DF7B"/>
      </a:accent4>
      <a:accent5>
        <a:srgbClr val="F7CB59"/>
      </a:accent5>
      <a:accent6>
        <a:srgbClr val="F67576"/>
      </a:accent6>
      <a:hlink>
        <a:srgbClr val="000000"/>
      </a:hlink>
      <a:folHlink>
        <a:srgbClr val="0097A7"/>
      </a:folHlink>
    </a:clrScheme>
    <a:fontScheme name="Inter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Codex Color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2026-09-17T01:07:09.1330000Z</dcterms:created>
  <dcterms:modified xsi:type="dcterms:W3CDTF">2026-09-17T01:07:09.1330000Z</dcterms:modified>
</coreProperties>
</file>