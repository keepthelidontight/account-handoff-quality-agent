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9eff5dd3214108" /><Relationship Type="http://schemas.openxmlformats.org/officeDocument/2006/relationships/extended-properties" Target="/docProps/app.xml" Id="Rfbf73cbee55e48f6" /><Relationship Type="http://schemas.openxmlformats.org/officeDocument/2006/relationships/officeDocument" Target="/ppt/presentation.xml" Id="Ra0276953090a452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924141128be4321"/>
  </p:sldMasterIdLst>
  <p:notesMasterIdLst>
    <p:notesMasterId xmlns:r="http://schemas.openxmlformats.org/officeDocument/2006/relationships" r:id="R5c1bfeb7a1504aa9"/>
  </p:notesMasterIdLst>
  <p:sldIdLst>
    <p:sldId xmlns:r="http://schemas.openxmlformats.org/officeDocument/2006/relationships" id="256" r:id="Rc4b40781b2014c83"/>
    <p:sldId xmlns:r="http://schemas.openxmlformats.org/officeDocument/2006/relationships" id="257" r:id="R87f1829cf99b463b"/>
  </p:sldIdLst>
  <p:sldSz cx="12192000" cy="6858000"/>
  <p:notesSz cx="6858000" cy="9144000"/>
  <p:embeddedFontLst>
    <p:embeddedFont>
      <p:font typeface="Inter"/>
      <p:regular xmlns:r="http://schemas.openxmlformats.org/officeDocument/2006/relationships" r:id="R03d433f1c66e447c"/>
      <p:bold xmlns:r="http://schemas.openxmlformats.org/officeDocument/2006/relationships" r:id="R38ee1a603b77422b"/>
    </p:embeddedFont>
    <p:embeddedFont>
      <p:font typeface="Inter Medium"/>
      <p:regular xmlns:r="http://schemas.openxmlformats.org/officeDocument/2006/relationships" r:id="R2fa89fc4fcb649a4"/>
    </p:embeddedFont>
    <p:embeddedFont>
      <p:font typeface="Inter SemiBold"/>
      <p:regular xmlns:r="http://schemas.openxmlformats.org/officeDocument/2006/relationships" r:id="R8552157f1c3d4203"/>
      <p:bold xmlns:r="http://schemas.openxmlformats.org/officeDocument/2006/relationships" r:id="Rb10071a9681a4a30"/>
    </p:embeddedFont>
    <p:embeddedFont>
      <p:font typeface="OpenAI Sans"/>
      <p:regular xmlns:r="http://schemas.openxmlformats.org/officeDocument/2006/relationships" r:id="Ra555a798fc764060"/>
      <p:bold xmlns:r="http://schemas.openxmlformats.org/officeDocument/2006/relationships" r:id="R1ec25e48c354436c"/>
      <p:italic xmlns:r="http://schemas.openxmlformats.org/officeDocument/2006/relationships" r:id="R1d5afcc765f348bc"/>
      <p:boldItalic xmlns:r="http://schemas.openxmlformats.org/officeDocument/2006/relationships" r:id="R90115c7edbfa499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7b59b4117942e2" /><Relationship Type="http://schemas.openxmlformats.org/officeDocument/2006/relationships/slideMaster" Target="/ppt/slideMasters/slideMaster1.xml" Id="R7924141128be4321" /><Relationship Type="http://schemas.openxmlformats.org/officeDocument/2006/relationships/notesMaster" Target="/ppt/notesMasters/notesMaster1.xml" Id="R5c1bfeb7a1504aa9" /><Relationship Type="http://schemas.openxmlformats.org/officeDocument/2006/relationships/presProps" Target="/ppt/presProps.xml" Id="R119d2eab456d4ec5" /><Relationship Type="http://schemas.openxmlformats.org/officeDocument/2006/relationships/viewProps" Target="/ppt/viewProps.xml" Id="R243e2676146e4bab" /><Relationship Type="http://schemas.openxmlformats.org/officeDocument/2006/relationships/tableStyles" Target="/ppt/tableStyles.xml" Id="R0708467d482d4972" /><Relationship Type="http://schemas.openxmlformats.org/officeDocument/2006/relationships/font" Target="/ppt/fonts/font.dat" Id="R03d433f1c66e447c" /><Relationship Type="http://schemas.openxmlformats.org/officeDocument/2006/relationships/font" Target="/ppt/fonts/font2.dat" Id="R38ee1a603b77422b" /><Relationship Type="http://schemas.openxmlformats.org/officeDocument/2006/relationships/font" Target="/ppt/fonts/font3.dat" Id="R2fa89fc4fcb649a4" /><Relationship Type="http://schemas.openxmlformats.org/officeDocument/2006/relationships/font" Target="/ppt/fonts/font4.dat" Id="R8552157f1c3d4203" /><Relationship Type="http://schemas.openxmlformats.org/officeDocument/2006/relationships/font" Target="/ppt/fonts/font5.dat" Id="Rb10071a9681a4a30" /><Relationship Type="http://schemas.openxmlformats.org/officeDocument/2006/relationships/font" Target="/ppt/fonts/font6.dat" Id="Ra555a798fc764060" /><Relationship Type="http://schemas.openxmlformats.org/officeDocument/2006/relationships/font" Target="/ppt/fonts/font7.dat" Id="R1ec25e48c354436c" /><Relationship Type="http://schemas.openxmlformats.org/officeDocument/2006/relationships/font" Target="/ppt/fonts/font8.dat" Id="R1d5afcc765f348bc" /><Relationship Type="http://schemas.openxmlformats.org/officeDocument/2006/relationships/font" Target="/ppt/fonts/font9.dat" Id="R90115c7edbfa499f" /><Relationship Type="http://schemas.openxmlformats.org/officeDocument/2006/relationships/slide" Target="/ppt/slides/slide1.xml" Id="Rc4b40781b2014c83" /><Relationship Type="http://schemas.openxmlformats.org/officeDocument/2006/relationships/slide" Target="/ppt/slides/slide2.xml" Id="R87f1829cf99b46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e7c0e7c5ff46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3ef1ab3c344f95" /><Relationship Type="http://schemas.openxmlformats.org/officeDocument/2006/relationships/notesMaster" Target="/ppt/notesMasters/notesMaster1.xml" Id="Rf8cbc440024a42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187133fc054ec5" /><Relationship Type="http://schemas.openxmlformats.org/officeDocument/2006/relationships/notesMaster" Target="/ppt/notesMasters/notesMaster1.xml" Id="Ra7c000d6eedf4f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overview derived from validated stored history. As of 2026-12-01T09:00:00-06:00. This is not live CRM data.</a:t>
            </a:r>
          </a:p>
          <a:p xmlns:a="http://schemas.openxmlformats.org/drawingml/2006/main">
            <a:r>
              <a:t>Account: Terrapin Touring Co. (0015g00002ABCDeAAH)</a:t>
            </a:r>
          </a:p>
          <a:p xmlns:a="http://schemas.openxmlformats.org/drawingml/2006/main">
            <a:r>
              <a:t>Latest handoff: terrapin-2026-12-01-implementation-cs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[S1] Original source ID: ownership-december</a:t>
            </a:r>
          </a:p>
          <a:p xmlns:a="http://schemas.openxmlformats.org/drawingml/2006/main">
            <a:r>
              <a:t>Fictional internal handoff record</a:t>
            </a:r>
          </a:p>
          <a:p xmlns:a="http://schemas.openxmlformats.org/drawingml/2006/main">
            <a:r>
              <a:t>Location: snapshots/2026-12-01-implementation-transfer.json</a:t>
            </a:r>
          </a:p>
          <a:p xmlns:a="http://schemas.openxmlformats.org/drawingml/2006/main">
            <a:r>
              <a:t>Record: mock-ownership-2026-12-01</a:t>
            </a:r>
          </a:p>
          <a:p xmlns:a="http://schemas.openxmlformats.org/drawingml/2006/main">
            <a:r>
              <a:t>Date: 2026-12-01</a:t>
            </a:r>
          </a:p>
          <a:p xmlns:a="http://schemas.openxmlformats.org/drawingml/2006/main">
            <a:r>
              <a:t>Excerpt: The November 30 implementation review confirms all six venues reporting and 96% of priority alerts within 15 minutes. The December 18 investigation-time target remains due. Training and QBR dates are Not Confirmed.</a:t>
            </a:r>
          </a:p>
          <a:p xmlns:a="http://schemas.openxmlformats.org/drawingml/2006/main">
            <a:r>
              <a:t>SHA-256: 918fbd3434dd6572e0b8b6952e4fa410f023669bf7526e2b63c739673803f6f1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Original source ID: account</a:t>
            </a:r>
          </a:p>
          <a:p xmlns:a="http://schemas.openxmlformats.org/drawingml/2006/main">
            <a:r>
              <a:t>CRM snapshot</a:t>
            </a:r>
          </a:p>
          <a:p xmlns:a="http://schemas.openxmlformats.org/drawingml/2006/main">
            <a:r>
              <a:t>Location: snapshots/ready/Account.csv</a:t>
            </a:r>
          </a:p>
          <a:p xmlns:a="http://schemas.openxmlformats.org/drawingml/2006/main">
            <a:r>
              <a:t>Record: 0015g00002ABCDeAAH</a:t>
            </a:r>
          </a:p>
          <a:p xmlns:a="http://schemas.openxmlformats.org/drawingml/2006/main">
            <a:r>
              <a:t>Date: 2026-09-16</a:t>
            </a:r>
          </a:p>
          <a:p xmlns:a="http://schemas.openxmlformats.org/drawingml/2006/main">
            <a:r>
              <a:t>Excerpt: Standardize security operations across six acquired venues and improve executive reporting.</a:t>
            </a:r>
          </a:p>
          <a:p xmlns:a="http://schemas.openxmlformats.org/drawingml/2006/main">
            <a:r>
              <a:t>SHA-256: 5ab777a31b94d8506b695c60c417068ff154e5a54fcbc480079d131cbb5a3ea0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Original source ID: confirmation</a:t>
            </a:r>
          </a:p>
          <a:p xmlns:a="http://schemas.openxmlformats.org/drawingml/2006/main">
            <a:r>
              <a:t>Sales Notes snapshot</a:t>
            </a:r>
          </a:p>
          <a:p xmlns:a="http://schemas.openxmlformats.org/drawingml/2006/main">
            <a:r>
              <a:t>Location: snapshots/ready/SalesNotes.csv</a:t>
            </a:r>
          </a:p>
          <a:p xmlns:a="http://schemas.openxmlformats.org/drawingml/2006/main">
            <a:r>
              <a:t>Record: a0N5g00001NOTE04AAH</a:t>
            </a:r>
          </a:p>
          <a:p xmlns:a="http://schemas.openxmlformats.org/drawingml/2006/main">
            <a:r>
              <a:t>Date: 2026-09-10</a:t>
            </a:r>
          </a:p>
          <a:p xmlns:a="http://schemas.openxmlformats.org/drawingml/2006/main">
            <a:r>
              <a:t>Excerpt: Scarlet explicitly accepted executive sponsorship and will resolve cross-team escalations. Casey remains technical owner. Scarlet, Casey, and the Wall of Sound implementation lead agreed the rollout plan and planning-support scope: Casey sends identity-team notice by 2026-09-18, providing at least two weeks before SSO validation on 2026-10-02. Corporate pilot begins 2026-10-05; venue rollout begins 2026-11-02 and finishes 2026-11-30. SSO must pass before broad rollout. They agreed that by 2026-11-30 all six venues will report to one dashboard and at least 95% of priority alerts will appear within 15 minutes. By 2026-12-18 mean investigation time must be at most 42 minutes against the agreed 60-minute baseline. The implementation lead accepted initial rollout-planning assistance. Casey will schedule kickoff by 2026-09-17. These specific agreements resolve the open timeline and success-metric questions in the earlier notes.</a:t>
            </a:r>
          </a:p>
          <a:p xmlns:a="http://schemas.openxmlformats.org/drawingml/2006/main">
            <a:r>
              <a:t>SHA-256: 172565c494ad895dc163b4f56ac440e6fbe8ce1c7bad2143f516af8b5602bfee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Outstanding actions as of 2026-12-01T09:00:00-06:00. These are the most recent recorded action states across every stored handoff. An action stays open until a later event explicitly changes its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Action terrapin-investigation-target</a:t>
            </a:r>
          </a:p>
          <a:p xmlns:a="http://schemas.openxmlformats.org/drawingml/2006/main">
            <a:r>
              <a:t>Originating handoff: terrapin-2026-09-16-sales-implementation</a:t>
            </a:r>
          </a:p>
          <a:p xmlns:a="http://schemas.openxmlformats.org/drawingml/2006/main">
            <a:r>
              <a:t>Last update: terrapin-2026-09-16-sales-implementation</a:t>
            </a:r>
          </a:p>
          <a:p xmlns:a="http://schemas.openxmlformats.org/drawingml/2006/main">
            <a:r>
              <a:t>Verify mean investigation time ≤42 minutes against the agreed 60-minute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Action terrapin-training</a:t>
            </a:r>
          </a:p>
          <a:p xmlns:a="http://schemas.openxmlformats.org/drawingml/2006/main">
            <a:r>
              <a:t>Originating handoff: terrapin-2026-12-01-implementation-cs</a:t>
            </a:r>
          </a:p>
          <a:p xmlns:a="http://schemas.openxmlformats.org/drawingml/2006/main">
            <a:r>
              <a:t>Last update: terrapin-2026-12-01-implementation-cs</a:t>
            </a:r>
          </a:p>
          <a:p xmlns:a="http://schemas.openxmlformats.org/drawingml/2006/main">
            <a:r>
              <a:t>Confirm the customer training session and record the agreed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Action terrapin-qbr</a:t>
            </a:r>
          </a:p>
          <a:p xmlns:a="http://schemas.openxmlformats.org/drawingml/2006/main">
            <a:r>
              <a:t>Originating handoff: terrapin-2026-12-01-implementation-cs</a:t>
            </a:r>
          </a:p>
          <a:p xmlns:a="http://schemas.openxmlformats.org/drawingml/2006/main">
            <a:r>
              <a:t>Last update: terrapin-2026-12-01-implementation-cs</a:t>
            </a:r>
          </a:p>
          <a:p xmlns:a="http://schemas.openxmlformats.org/drawingml/2006/main">
            <a:r>
              <a:t>Confirm the first QBR date with the customer.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[S1] Original source ID: confirmation</a:t>
            </a:r>
          </a:p>
          <a:p xmlns:a="http://schemas.openxmlformats.org/drawingml/2006/main">
            <a:r>
              <a:t>Sales Notes snapshot</a:t>
            </a:r>
          </a:p>
          <a:p xmlns:a="http://schemas.openxmlformats.org/drawingml/2006/main">
            <a:r>
              <a:t>Location: snapshots/ready/SalesNotes.csv</a:t>
            </a:r>
          </a:p>
          <a:p xmlns:a="http://schemas.openxmlformats.org/drawingml/2006/main">
            <a:r>
              <a:t>Record: a0N5g00001NOTE04AAH</a:t>
            </a:r>
          </a:p>
          <a:p xmlns:a="http://schemas.openxmlformats.org/drawingml/2006/main">
            <a:r>
              <a:t>Date: 2026-09-10</a:t>
            </a:r>
          </a:p>
          <a:p xmlns:a="http://schemas.openxmlformats.org/drawingml/2006/main">
            <a:r>
              <a:t>Excerpt: Scarlet explicitly accepted executive sponsorship and will resolve cross-team escalations. Casey remains technical owner. Scarlet, Casey, and the Wall of Sound implementation lead agreed the rollout plan and planning-support scope: Casey sends identity-team notice by 2026-09-18, providing at least two weeks before SSO validation on 2026-10-02. Corporate pilot begins 2026-10-05; venue rollout begins 2026-11-02 and finishes 2026-11-30. SSO must pass before broad rollout. They agreed that by 2026-11-30 all six venues will report to one dashboard and at least 95% of priority alerts will appear within 15 minutes. By 2026-12-18 mean investigation time must be at most 42 minutes against the agreed 60-minute baseline. The implementation lead accepted initial rollout-planning assistance. Casey will schedule kickoff by 2026-09-17. These specific agreements resolve the open timeline and success-metric questions in the earlier notes.</a:t>
            </a:r>
          </a:p>
          <a:p xmlns:a="http://schemas.openxmlformats.org/drawingml/2006/main">
            <a:r>
              <a:t>SHA-256: 172565c494ad895dc163b4f56ac440e6fbe8ce1c7bad2143f516af8b5602bfee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Original source ID: ownership-september</a:t>
            </a:r>
          </a:p>
          <a:p xmlns:a="http://schemas.openxmlformats.org/drawingml/2006/main">
            <a:r>
              <a:t>Fictional internal handoff record</a:t>
            </a:r>
          </a:p>
          <a:p xmlns:a="http://schemas.openxmlformats.org/drawingml/2006/main">
            <a:r>
              <a:t>Location: snapshots/2026-09-16-ownership.json</a:t>
            </a:r>
          </a:p>
          <a:p xmlns:a="http://schemas.openxmlformats.org/drawingml/2006/main">
            <a:r>
              <a:t>Record: mock-ownership-2026-09-16</a:t>
            </a:r>
          </a:p>
          <a:p xmlns:a="http://schemas.openxmlformats.org/drawingml/2006/main">
            <a:r>
              <a:t>Date: 2026-09-16</a:t>
            </a:r>
          </a:p>
          <a:p xmlns:a="http://schemas.openxmlformats.org/drawingml/2006/main">
            <a:r>
              <a:t>Excerpt: Samson Delilah transfers internal account ownership to Ruben Cherise in Implementation on September 16, 2026.</a:t>
            </a:r>
          </a:p>
          <a:p xmlns:a="http://schemas.openxmlformats.org/drawingml/2006/main">
            <a:r>
              <a:t>SHA-256: 3dc5ef097a53439e3b86a5cd1f2921e75c03ca31e38c8a06403113b9bc4b2b7c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Original source ID: ownership-december</a:t>
            </a:r>
          </a:p>
          <a:p xmlns:a="http://schemas.openxmlformats.org/drawingml/2006/main">
            <a:r>
              <a:t>Fictional internal handoff record</a:t>
            </a:r>
          </a:p>
          <a:p xmlns:a="http://schemas.openxmlformats.org/drawingml/2006/main">
            <a:r>
              <a:t>Location: snapshots/2026-12-01-implementation-transfer.json</a:t>
            </a:r>
          </a:p>
          <a:p xmlns:a="http://schemas.openxmlformats.org/drawingml/2006/main">
            <a:r>
              <a:t>Record: mock-ownership-2026-12-01</a:t>
            </a:r>
          </a:p>
          <a:p xmlns:a="http://schemas.openxmlformats.org/drawingml/2006/main">
            <a:r>
              <a:t>Date: 2026-12-01</a:t>
            </a:r>
          </a:p>
          <a:p xmlns:a="http://schemas.openxmlformats.org/drawingml/2006/main">
            <a:r>
              <a:t>Excerpt: The November 30 implementation review confirms all six venues reporting and 96% of priority alerts within 15 minutes. The December 18 investigation-time target remains due. Training and QBR dates are Not Confirmed.</a:t>
            </a:r>
          </a:p>
          <a:p xmlns:a="http://schemas.openxmlformats.org/drawingml/2006/main">
            <a:r>
              <a:t>SHA-256: 918fbd3434dd6572e0b8b6952e4fa410f023669bf7526e2b63c739673803f6f1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f55f20400045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96f2a28c54b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fa552d9fc43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98fb1fe8644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3f4dbcc2f49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c4d456e9742c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3cc0c9ecf404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6ce7d19df4ee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17c617fe2c4304" /><Relationship Type="http://schemas.openxmlformats.org/officeDocument/2006/relationships/slideLayout" Target="/ppt/slideLayouts/slideLayout1.xml" Id="R32cfe96330a946d1" /><Relationship Type="http://schemas.openxmlformats.org/officeDocument/2006/relationships/slideLayout" Target="/ppt/slideLayouts/slideLayout2.xml" Id="Rb36bc0c6015b411e" /><Relationship Type="http://schemas.openxmlformats.org/officeDocument/2006/relationships/slideLayout" Target="/ppt/slideLayouts/slideLayout3.xml" Id="R9564ddb5962e447b" /><Relationship Type="http://schemas.openxmlformats.org/officeDocument/2006/relationships/slideLayout" Target="/ppt/slideLayouts/slideLayout4.xml" Id="Rc443f0a3e14247f8" /><Relationship Type="http://schemas.openxmlformats.org/officeDocument/2006/relationships/slideLayout" Target="/ppt/slideLayouts/slideLayout5.xml" Id="R55cb228c4c3a4f60" /><Relationship Type="http://schemas.openxmlformats.org/officeDocument/2006/relationships/slideLayout" Target="/ppt/slideLayouts/slideLayout6.xml" Id="R10fc3e41632144d4" /><Relationship Type="http://schemas.openxmlformats.org/officeDocument/2006/relationships/slideLayout" Target="/ppt/slideLayouts/slideLayout7.xml" Id="Rb2e2a315c7b645c3" /><Relationship Type="http://schemas.openxmlformats.org/officeDocument/2006/relationships/slideLayout" Target="/ppt/slideLayouts/slideLayout8.xml" Id="R2e7a7df2a04c47e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cfe96330a946d1"/>
    <p:sldLayoutId xmlns:r="http://schemas.openxmlformats.org/officeDocument/2006/relationships" id="2147483650" r:id="Rb36bc0c6015b411e"/>
    <p:sldLayoutId xmlns:r="http://schemas.openxmlformats.org/officeDocument/2006/relationships" id="2147483651" r:id="R9564ddb5962e447b"/>
    <p:sldLayoutId xmlns:r="http://schemas.openxmlformats.org/officeDocument/2006/relationships" id="2147483652" r:id="Rc443f0a3e14247f8"/>
    <p:sldLayoutId xmlns:r="http://schemas.openxmlformats.org/officeDocument/2006/relationships" id="2147483653" r:id="R55cb228c4c3a4f60"/>
    <p:sldLayoutId xmlns:r="http://schemas.openxmlformats.org/officeDocument/2006/relationships" id="2147483654" r:id="R10fc3e41632144d4"/>
    <p:sldLayoutId xmlns:r="http://schemas.openxmlformats.org/officeDocument/2006/relationships" id="2147483655" r:id="Rb2e2a315c7b645c3"/>
    <p:sldLayoutId xmlns:r="http://schemas.openxmlformats.org/officeDocument/2006/relationships" id="2147483656" r:id="R2e7a7df2a04c47e0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310db4214b4f99" /><Relationship Type="http://schemas.openxmlformats.org/officeDocument/2006/relationships/notesSlide" Target="/ppt/notesSlides/notesSlide1.xml" Id="R9c9cbeda27db47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8e0351e874077" /><Relationship Type="http://schemas.openxmlformats.org/officeDocument/2006/relationships/notesSlide" Target="/ppt/notesSlides/notesSlide2.xml" Id="R97871312321744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D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B5150-221F-470B-8A15-AFD13039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BCEF59"/>
                </a:solidFill>
                <a:latin typeface="Inter Medium"/>
                <a:ea typeface="Inter Medium"/>
                <a:cs typeface="Inter Medium"/>
              </a:defRPr>
            </a:pPr>
            <a:r>
              <a:t>ACCOUNT HANDOFF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86BBB-C050-4A78-8E14-B021F6DA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3225">
                <a:solidFill>
                  <a:srgbClr val="FFFFFF"/>
                </a:solidFill>
                <a:latin typeface="Inter Medium"/>
                <a:ea typeface="Inter Medium"/>
                <a:cs typeface="Inter Medium"/>
              </a:defRPr>
            </a:pPr>
            <a:r>
              <a:t>Terrapin Touring Co.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2F53B-7120-4B51-A26B-07797AAA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B8C9C0"/>
                </a:solidFill>
                <a:latin typeface="Inter"/>
                <a:ea typeface="Inter"/>
                <a:cs typeface="Inter"/>
              </a:defRPr>
            </a:pPr>
            <a:r>
              <a:t>BATON  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A1C7D-7E26-481F-8B83-214BB019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B8C9C0"/>
                </a:solidFill>
                <a:latin typeface="Inter"/>
                <a:ea typeface="Inter"/>
                <a:cs typeface="Inter"/>
              </a:defRPr>
            </a:pPr>
            <a:r>
              <a:t>FICTIONAL, SIMULATED EXAMPLE   2026-12-01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48934-8AD4-4B24-BC1B-F0FF221D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3750">
                <a:solidFill>
                  <a:srgbClr val="F7C96A"/>
                </a:solidFill>
                <a:latin typeface="Inter Medium"/>
                <a:ea typeface="Inter Medium"/>
                <a:cs typeface="Inter Medium"/>
              </a:defRPr>
            </a:pPr>
            <a:r>
              <a:t>Needs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FF59F-82C3-4390-9A71-B19205EC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BCEF59"/>
                </a:solidFill>
                <a:latin typeface="Inter Medium"/>
                <a:ea typeface="Inter Medium"/>
                <a:cs typeface="Inter Medium"/>
              </a:defRPr>
            </a:pPr>
            <a:r>
              <a:t>CURRENT OWNER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F2E10-7FF1-4FB7-B704-01EC1A27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Althea Cassidy, Customer Success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6ADFF-AC53-4E7F-9DD9-6EE97C58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BCEF59"/>
                </a:solidFill>
                <a:latin typeface="Inter Medium"/>
                <a:ea typeface="Inter Medium"/>
                <a:cs typeface="Inter Medium"/>
              </a:defRPr>
            </a:pPr>
            <a:r>
              <a:t>BUSINESS 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037F6-2E4F-40F3-9169-551C3C1B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One security view across six venues and monthly executive reporting. [S1, S2]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26219-B45F-4FD2-B247-7EAEDBC7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BCEF59"/>
                </a:solidFill>
                <a:latin typeface="Inter Medium"/>
                <a:ea typeface="Inter Medium"/>
                <a:cs typeface="Inter Medium"/>
              </a:defRPr>
            </a:pPr>
            <a:r>
              <a:t>WHAT THE DATA SAYS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85152-C824-4C9B-8F87-2191F5A4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28875"/>
            <a:ext cx="4857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Six of six venues report to one dashboard. 96% of priority alerts arrive within 15 minutes. The 42-minute investigation target is still due Dec 18. [S1, S3]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86271-708F-42C7-A6FE-E2CC838B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3862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BCEF59"/>
                </a:solidFill>
                <a:latin typeface="Inter Medium"/>
                <a:ea typeface="Inter Medium"/>
                <a:cs typeface="Inter Medium"/>
              </a:defRPr>
            </a:pPr>
            <a:r>
              <a:t>RECOMMENDATION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9C4DD-E0FE-4CD2-9335-50851A49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Keep this handoff open. Althea should confirm the training and first QBR dates. Ruben should validate the 42-minute investigation target by Dec 18. [S1, S3]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20142-EC42-4701-9628-3C62AE50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4A7A1D"/>
                </a:solidFill>
                <a:latin typeface="Inter Medium"/>
                <a:ea typeface="Inter Medium"/>
                <a:cs typeface="Inter Medium"/>
              </a:defRPr>
            </a:pPr>
            <a:r>
              <a:t>WHAT NEEDS TO HAPPEN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53613-2B2F-4000-8D7A-7B20853D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3225">
                <a:solidFill>
                  <a:srgbClr val="0A2D22"/>
                </a:solidFill>
                <a:latin typeface="Inter Medium"/>
                <a:ea typeface="Inter Medium"/>
                <a:cs typeface="Inter Medium"/>
              </a:defRPr>
            </a:pPr>
            <a:r>
              <a:t>Recommended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53E20-46DC-4338-BFB0-CFC4BEDB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567268"/>
                </a:solidFill>
                <a:latin typeface="Inter"/>
                <a:ea typeface="Inter"/>
                <a:cs typeface="Inter"/>
              </a:defRPr>
            </a:pPr>
            <a:r>
              <a:t>BATON 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D6FF6-5DCF-41CF-9FDA-7AC7F7B4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567268"/>
                </a:solidFill>
                <a:latin typeface="Inter"/>
                <a:ea typeface="Inter"/>
                <a:cs typeface="Inter"/>
              </a:defRPr>
            </a:pPr>
            <a:r>
              <a:t>FICTIONAL, SIMULATED EXAMPLE   2026-12-01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9A774-93C9-4D67-B59B-05885AC1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0A2D22"/>
                </a:solidFill>
                <a:latin typeface="Inter Medium"/>
                <a:ea typeface="Inter Medium"/>
                <a:cs typeface="Inter Medium"/>
              </a:defRPr>
            </a:pPr>
            <a:r>
              <a:t>Do not close the handoff until the two customer dates and Dec 18 measurement are recorded.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34525-AC36-471B-A271-95D95689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4A7A1D"/>
                </a:solidFill>
                <a:latin typeface="Inter Medium"/>
                <a:ea typeface="Inter Medium"/>
                <a:cs typeface="Inter Medium"/>
              </a:defRPr>
            </a:pPr>
            <a:r>
              <a:t>PRIORITY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AC08E-F0D0-4C32-8BE1-8E423109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0A2D22"/>
                </a:solidFill>
                <a:latin typeface="Inter Medium"/>
                <a:ea typeface="Inter Medium"/>
                <a:cs typeface="Inter Medium"/>
              </a:defRPr>
            </a:pPr>
            <a:r>
              <a:t>Verify mean investigation time ≤42 minutes against the agreed 60-minute baseline. [S1, S2]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E66B8-2060-4311-9C04-562B72B1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813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A2D22"/>
                </a:solidFill>
                <a:latin typeface="Inter"/>
                <a:ea typeface="Inter"/>
                <a:cs typeface="Inter"/>
              </a:defRPr>
            </a:pPr>
            <a:r>
              <a:t>Owner: Ruben Cherise (Implementation)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A2D22"/>
                </a:solidFill>
                <a:latin typeface="Inter"/>
                <a:ea typeface="Inter"/>
                <a:cs typeface="Inter"/>
              </a:defRPr>
            </a:pPr>
            <a:r>
              <a:t>Due: 2026-12-18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6F0FE-15DA-4500-BB0C-BF45391D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4A7A1D"/>
                </a:solidFill>
                <a:latin typeface="Inter Medium"/>
                <a:ea typeface="Inter Medium"/>
                <a:cs typeface="Inter Medium"/>
              </a:defRPr>
            </a:pPr>
            <a:r>
              <a:t>PRIORITY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39DF1-2F05-4D04-B667-4271DC23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0A2D22"/>
                </a:solidFill>
                <a:latin typeface="Inter Medium"/>
                <a:ea typeface="Inter Medium"/>
                <a:cs typeface="Inter Medium"/>
              </a:defRPr>
            </a:pPr>
            <a:r>
              <a:t>Confirm the customer training session and record the agreed date. [S3]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98750-B637-4009-88C5-E6C4211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719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A2D22"/>
                </a:solidFill>
                <a:latin typeface="Inter"/>
                <a:ea typeface="Inter"/>
                <a:cs typeface="Inter"/>
              </a:defRPr>
            </a:pPr>
            <a:r>
              <a:t>Owner: Althea Cassidy (Customer Success)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A2D22"/>
                </a:solidFill>
                <a:latin typeface="Inter"/>
                <a:ea typeface="Inter"/>
                <a:cs typeface="Inter"/>
              </a:defRPr>
            </a:pPr>
            <a:r>
              <a:t>Due: Confirm 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338AB-BA36-4D75-A48A-5C897285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4A7A1D"/>
                </a:solidFill>
                <a:latin typeface="Inter Medium"/>
                <a:ea typeface="Inter Medium"/>
                <a:cs typeface="Inter Medium"/>
              </a:defRPr>
            </a:pPr>
            <a:r>
              <a:t>PRIORITY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9D258-0E0D-4799-AC9C-6322B889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0A2D22"/>
                </a:solidFill>
                <a:latin typeface="Inter Medium"/>
                <a:ea typeface="Inter Medium"/>
                <a:cs typeface="Inter Medium"/>
              </a:defRPr>
            </a:pPr>
            <a:r>
              <a:t>Confirm the first QBR date with the customer. [S3]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4815B-04CF-4C80-B9C1-50A9AE55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6257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A2D22"/>
                </a:solidFill>
                <a:latin typeface="Inter"/>
                <a:ea typeface="Inter"/>
                <a:cs typeface="Inter"/>
              </a:defRPr>
            </a:pPr>
            <a:r>
              <a:t>Owner: Althea Cassidy (Customer Success)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A2D22"/>
                </a:solidFill>
                <a:latin typeface="Inter"/>
                <a:ea typeface="Inter"/>
                <a:cs typeface="Inter"/>
              </a:defRPr>
            </a:pPr>
            <a:r>
              <a:t>Due: Confirm date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2026-09-17T22:41:49.4150000Z</dcterms:created>
  <dcterms:modified xsi:type="dcterms:W3CDTF">2026-09-17T22:41:49.4150000Z</dcterms:modified>
</coreProperties>
</file>