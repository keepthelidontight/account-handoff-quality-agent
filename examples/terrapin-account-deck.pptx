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250c8d5c7c4570" /><Relationship Type="http://schemas.openxmlformats.org/officeDocument/2006/relationships/extended-properties" Target="/docProps/app.xml" Id="R4acd278a542c4366" /><Relationship Type="http://schemas.openxmlformats.org/officeDocument/2006/relationships/officeDocument" Target="/ppt/presentation.xml" Id="Rf0fa1cdc9a724fa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ff342ed1c384f13"/>
  </p:sldMasterIdLst>
  <p:notesMasterIdLst>
    <p:notesMasterId xmlns:r="http://schemas.openxmlformats.org/officeDocument/2006/relationships" r:id="Rc6ac4cd241074af1"/>
  </p:notesMasterIdLst>
  <p:sldIdLst>
    <p:sldId xmlns:r="http://schemas.openxmlformats.org/officeDocument/2006/relationships" id="256" r:id="R114d313ea81642be"/>
    <p:sldId xmlns:r="http://schemas.openxmlformats.org/officeDocument/2006/relationships" id="257" r:id="R2ecd76d24f8543c2"/>
    <p:sldId xmlns:r="http://schemas.openxmlformats.org/officeDocument/2006/relationships" id="258" r:id="Rd9f66bb8311b443a"/>
  </p:sldIdLst>
  <p:sldSz cx="12192000" cy="6858000"/>
  <p:notesSz cx="6858000" cy="9144000"/>
  <p:embeddedFontLst>
    <p:embeddedFont>
      <p:font typeface="Inter"/>
      <p:regular xmlns:r="http://schemas.openxmlformats.org/officeDocument/2006/relationships" r:id="Ree231feb1c7e4178"/>
      <p:bold xmlns:r="http://schemas.openxmlformats.org/officeDocument/2006/relationships" r:id="Rebe415936e70417f"/>
    </p:embeddedFont>
    <p:embeddedFont>
      <p:font typeface="Inter Medium"/>
      <p:regular xmlns:r="http://schemas.openxmlformats.org/officeDocument/2006/relationships" r:id="R1864f48476bb4541"/>
    </p:embeddedFont>
    <p:embeddedFont>
      <p:font typeface="Inter SemiBold"/>
      <p:regular xmlns:r="http://schemas.openxmlformats.org/officeDocument/2006/relationships" r:id="R0c07254420bd4750"/>
      <p:bold xmlns:r="http://schemas.openxmlformats.org/officeDocument/2006/relationships" r:id="Rf622ae5d220c48f3"/>
    </p:embeddedFont>
    <p:embeddedFont>
      <p:font typeface="OpenAI Sans"/>
      <p:regular xmlns:r="http://schemas.openxmlformats.org/officeDocument/2006/relationships" r:id="R14e7ced036f942ff"/>
      <p:bold xmlns:r="http://schemas.openxmlformats.org/officeDocument/2006/relationships" r:id="R935507ed41044aaa"/>
      <p:italic xmlns:r="http://schemas.openxmlformats.org/officeDocument/2006/relationships" r:id="R2e45bd2d0eaa473a"/>
      <p:boldItalic xmlns:r="http://schemas.openxmlformats.org/officeDocument/2006/relationships" r:id="Ree196c46679747d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388a9681d8471f" /><Relationship Type="http://schemas.openxmlformats.org/officeDocument/2006/relationships/slideMaster" Target="/ppt/slideMasters/slideMaster1.xml" Id="Reff342ed1c384f13" /><Relationship Type="http://schemas.openxmlformats.org/officeDocument/2006/relationships/notesMaster" Target="/ppt/notesMasters/notesMaster1.xml" Id="Rc6ac4cd241074af1" /><Relationship Type="http://schemas.openxmlformats.org/officeDocument/2006/relationships/presProps" Target="/ppt/presProps.xml" Id="R29363a0d078a4abb" /><Relationship Type="http://schemas.openxmlformats.org/officeDocument/2006/relationships/viewProps" Target="/ppt/viewProps.xml" Id="Rc85b1b2349e949c0" /><Relationship Type="http://schemas.openxmlformats.org/officeDocument/2006/relationships/tableStyles" Target="/ppt/tableStyles.xml" Id="R03c6b46abacc4e72" /><Relationship Type="http://schemas.openxmlformats.org/officeDocument/2006/relationships/font" Target="/ppt/fonts/font.dat" Id="Ree231feb1c7e4178" /><Relationship Type="http://schemas.openxmlformats.org/officeDocument/2006/relationships/font" Target="/ppt/fonts/font2.dat" Id="Rebe415936e70417f" /><Relationship Type="http://schemas.openxmlformats.org/officeDocument/2006/relationships/font" Target="/ppt/fonts/font3.dat" Id="R1864f48476bb4541" /><Relationship Type="http://schemas.openxmlformats.org/officeDocument/2006/relationships/font" Target="/ppt/fonts/font4.dat" Id="R0c07254420bd4750" /><Relationship Type="http://schemas.openxmlformats.org/officeDocument/2006/relationships/font" Target="/ppt/fonts/font5.dat" Id="Rf622ae5d220c48f3" /><Relationship Type="http://schemas.openxmlformats.org/officeDocument/2006/relationships/font" Target="/ppt/fonts/font6.dat" Id="R14e7ced036f942ff" /><Relationship Type="http://schemas.openxmlformats.org/officeDocument/2006/relationships/font" Target="/ppt/fonts/font7.dat" Id="R935507ed41044aaa" /><Relationship Type="http://schemas.openxmlformats.org/officeDocument/2006/relationships/font" Target="/ppt/fonts/font8.dat" Id="R2e45bd2d0eaa473a" /><Relationship Type="http://schemas.openxmlformats.org/officeDocument/2006/relationships/font" Target="/ppt/fonts/font9.dat" Id="Ree196c46679747df" /><Relationship Type="http://schemas.openxmlformats.org/officeDocument/2006/relationships/slide" Target="/ppt/slides/slide1.xml" Id="R114d313ea81642be" /><Relationship Type="http://schemas.openxmlformats.org/officeDocument/2006/relationships/slide" Target="/ppt/slides/slide2.xml" Id="R2ecd76d24f8543c2" /><Relationship Type="http://schemas.openxmlformats.org/officeDocument/2006/relationships/slide" Target="/ppt/slides/slide3.xml" Id="Rd9f66bb8311b44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f165a7ad1649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98f6f79e247f4" /><Relationship Type="http://schemas.openxmlformats.org/officeDocument/2006/relationships/notesMaster" Target="/ppt/notesMasters/notesMaster1.xml" Id="R1fcd1f6f2d1f4d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5be211b7a743fb" /><Relationship Type="http://schemas.openxmlformats.org/officeDocument/2006/relationships/notesMaster" Target="/ppt/notesMasters/notesMaster1.xml" Id="R5913bf1b9e9447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13c7c6975e4805" /><Relationship Type="http://schemas.openxmlformats.org/officeDocument/2006/relationships/notesMaster" Target="/ppt/notesMasters/notesMaster1.xml" Id="R39f4627407ac47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overview derived from validated stored history. As of 2026-12-01T09:00:00-06:00. This is not live CRM data.</a:t>
            </a:r>
          </a:p>
          <a:p xmlns:a="http://schemas.openxmlformats.org/drawingml/2006/main">
            <a:r>
              <a:t>Account: Terrapin Touring Co. (0015g00002ABCDeAAH)</a:t>
            </a:r>
          </a:p>
          <a:p xmlns:a="http://schemas.openxmlformats.org/drawingml/2006/main">
            <a:r>
              <a:t>Latest handoff: terrapin-2026-12-01-implementation-cs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Outstanding actions as of 2026-12-01T09:00:00-06:00. These are the most recent recorded action states across every stored handoff. An action stays open until a later event explicitly changes its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terrapin-investigation-target</a:t>
            </a:r>
          </a:p>
          <a:p xmlns:a="http://schemas.openxmlformats.org/drawingml/2006/main">
            <a:r>
              <a:t>Originating handoff: terrapin-2026-09-16-sales-implementation</a:t>
            </a:r>
          </a:p>
          <a:p xmlns:a="http://schemas.openxmlformats.org/drawingml/2006/main">
            <a:r>
              <a:t>Last update: terrapin-2026-09-16-sales-implementation</a:t>
            </a:r>
          </a:p>
          <a:p xmlns:a="http://schemas.openxmlformats.org/drawingml/2006/main">
            <a:r>
              <a:t>Verify mean investigation time ≤42 minutes against the agreed 60-minute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terrapin-training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customer training session and record the agreed 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terrapin-qbr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first QBR date with the customer.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Handoff timeline from validated stored history. Each row is a dated immutable event.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terrapin-2026-09-16-sales-implementation</a:t>
            </a:r>
          </a:p>
          <a:p xmlns:a="http://schemas.openxmlformats.org/drawingml/2006/main">
            <a:r>
              <a:t>2026-09-16T09:00:00-05:00</a:t>
            </a:r>
          </a:p>
          <a:p xmlns:a="http://schemas.openxmlformats.org/drawingml/2006/main">
            <a:r>
              <a:t>Samson Delilah (Sales) to Ruben Cherise (Implementation)</a:t>
            </a:r>
          </a:p>
          <a:p xmlns:a="http://schemas.openxmlformats.org/drawingml/2006/main">
            <a:r>
              <a:t>Ready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terrapin-2026-12-01-implementation-cs</a:t>
            </a:r>
          </a:p>
          <a:p xmlns:a="http://schemas.openxmlformats.org/drawingml/2006/main">
            <a:r>
              <a:t>2026-12-01T09:00:00-06:00</a:t>
            </a:r>
          </a:p>
          <a:p xmlns:a="http://schemas.openxmlformats.org/drawingml/2006/main">
            <a:r>
              <a:t>Ruben Cherise (Implementation) to Althea Cassidy (Customer Success)</a:t>
            </a:r>
          </a:p>
          <a:p xmlns:a="http://schemas.openxmlformats.org/drawingml/2006/main">
            <a:r>
              <a:t>Needs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e3507da96f4c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e1d3b6efd48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28d51b4d2b4b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e0c2b8f674ae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3d74f893b34a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a137622ebd4f7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cd819b14cf428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2179a572d64bd6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e95049dd3b42fe" /><Relationship Type="http://schemas.openxmlformats.org/officeDocument/2006/relationships/slideLayout" Target="/ppt/slideLayouts/slideLayout1.xml" Id="R3c1948d917ce4d8f" /><Relationship Type="http://schemas.openxmlformats.org/officeDocument/2006/relationships/slideLayout" Target="/ppt/slideLayouts/slideLayout2.xml" Id="R913beff9e0ef4d43" /><Relationship Type="http://schemas.openxmlformats.org/officeDocument/2006/relationships/slideLayout" Target="/ppt/slideLayouts/slideLayout3.xml" Id="R177a0562702447cf" /><Relationship Type="http://schemas.openxmlformats.org/officeDocument/2006/relationships/slideLayout" Target="/ppt/slideLayouts/slideLayout4.xml" Id="R01dfaf79d0404a24" /><Relationship Type="http://schemas.openxmlformats.org/officeDocument/2006/relationships/slideLayout" Target="/ppt/slideLayouts/slideLayout5.xml" Id="R048d74bea44444a7" /><Relationship Type="http://schemas.openxmlformats.org/officeDocument/2006/relationships/slideLayout" Target="/ppt/slideLayouts/slideLayout6.xml" Id="R4773f2df73b84f8c" /><Relationship Type="http://schemas.openxmlformats.org/officeDocument/2006/relationships/slideLayout" Target="/ppt/slideLayouts/slideLayout7.xml" Id="Rff24395f4aa54f56" /><Relationship Type="http://schemas.openxmlformats.org/officeDocument/2006/relationships/slideLayout" Target="/ppt/slideLayouts/slideLayout8.xml" Id="Rd4ef1987da2247b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0026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1948d917ce4d8f"/>
    <p:sldLayoutId xmlns:r="http://schemas.openxmlformats.org/officeDocument/2006/relationships" id="2147483650" r:id="R913beff9e0ef4d43"/>
    <p:sldLayoutId xmlns:r="http://schemas.openxmlformats.org/officeDocument/2006/relationships" id="2147483651" r:id="R177a0562702447cf"/>
    <p:sldLayoutId xmlns:r="http://schemas.openxmlformats.org/officeDocument/2006/relationships" id="2147483652" r:id="R01dfaf79d0404a24"/>
    <p:sldLayoutId xmlns:r="http://schemas.openxmlformats.org/officeDocument/2006/relationships" id="2147483653" r:id="R048d74bea44444a7"/>
    <p:sldLayoutId xmlns:r="http://schemas.openxmlformats.org/officeDocument/2006/relationships" id="2147483654" r:id="R4773f2df73b84f8c"/>
    <p:sldLayoutId xmlns:r="http://schemas.openxmlformats.org/officeDocument/2006/relationships" id="2147483655" r:id="Rff24395f4aa54f56"/>
    <p:sldLayoutId xmlns:r="http://schemas.openxmlformats.org/officeDocument/2006/relationships" id="2147483656" r:id="Rd4ef1987da2247b6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xmlns:a="http://schemas.openxmlformats.org/drawingml/2006/main" val="F26B43"/>
          </p15:clr>
        </p15:guide>
        <p15:guide id="2" pos="7680">
          <p15:clr>
            <a:srgbClr xmlns:a="http://schemas.openxmlformats.org/drawingml/2006/main" val="F26B43"/>
          </p15:clr>
        </p15:guide>
        <p15:guide id="3" pos="248">
          <p15:clr>
            <a:srgbClr xmlns:a="http://schemas.openxmlformats.org/drawingml/2006/main" val="F26B43"/>
          </p15:clr>
        </p15:guide>
        <p15:guide id="4" pos="1264">
          <p15:clr>
            <a:srgbClr xmlns:a="http://schemas.openxmlformats.org/drawingml/2006/main" val="F26B43"/>
          </p15:clr>
        </p15:guide>
        <p15:guide id="5" pos="1480">
          <p15:clr>
            <a:srgbClr xmlns:a="http://schemas.openxmlformats.org/drawingml/2006/main" val="F26B43"/>
          </p15:clr>
        </p15:guide>
        <p15:guide id="6" pos="2496">
          <p15:clr>
            <a:srgbClr xmlns:a="http://schemas.openxmlformats.org/drawingml/2006/main" val="F26B43"/>
          </p15:clr>
        </p15:guide>
        <p15:guide id="7" pos="2712">
          <p15:clr>
            <a:srgbClr xmlns:a="http://schemas.openxmlformats.org/drawingml/2006/main" val="F26B43"/>
          </p15:clr>
        </p15:guide>
        <p15:guide id="8" pos="3736">
          <p15:clr>
            <a:srgbClr xmlns:a="http://schemas.openxmlformats.org/drawingml/2006/main" val="F26B43"/>
          </p15:clr>
        </p15:guide>
        <p15:guide id="9" pos="3944">
          <p15:clr>
            <a:srgbClr xmlns:a="http://schemas.openxmlformats.org/drawingml/2006/main" val="F26B43"/>
          </p15:clr>
        </p15:guide>
        <p15:guide id="10" pos="4968">
          <p15:clr>
            <a:srgbClr xmlns:a="http://schemas.openxmlformats.org/drawingml/2006/main" val="F26B43"/>
          </p15:clr>
        </p15:guide>
        <p15:guide id="11" pos="5184">
          <p15:clr>
            <a:srgbClr xmlns:a="http://schemas.openxmlformats.org/drawingml/2006/main" val="F26B43"/>
          </p15:clr>
        </p15:guide>
        <p15:guide id="12" pos="6200">
          <p15:clr>
            <a:srgbClr xmlns:a="http://schemas.openxmlformats.org/drawingml/2006/main" val="F26B43"/>
          </p15:clr>
        </p15:guide>
        <p15:guide id="13" pos="6416">
          <p15:clr>
            <a:srgbClr xmlns:a="http://schemas.openxmlformats.org/drawingml/2006/main" val="F26B43"/>
          </p15:clr>
        </p15:guide>
        <p15:guide id="14" pos="7432">
          <p15:clr>
            <a:srgbClr xmlns:a="http://schemas.openxmlformats.org/drawingml/2006/main" val="F26B43"/>
          </p15:clr>
        </p15:guide>
        <p15:guide id="15" orient="horz">
          <p15:clr>
            <a:srgbClr xmlns:a="http://schemas.openxmlformats.org/drawingml/2006/main" val="F26B43"/>
          </p15:clr>
        </p15:guide>
        <p15:guide id="17" orient="horz" pos="248">
          <p15:clr>
            <a:srgbClr xmlns:a="http://schemas.openxmlformats.org/drawingml/2006/main" val="F26B43"/>
          </p15:clr>
        </p15:guide>
        <p15:guide id="18" orient="horz" pos="656">
          <p15:clr>
            <a:srgbClr xmlns:a="http://schemas.openxmlformats.org/drawingml/2006/main" val="F26B43"/>
          </p15:clr>
        </p15:guide>
        <p15:guide id="19" orient="horz" pos="872">
          <p15:clr>
            <a:srgbClr xmlns:a="http://schemas.openxmlformats.org/drawingml/2006/main" val="F26B43"/>
          </p15:clr>
        </p15:guide>
        <p15:guide id="20" orient="horz" pos="1280">
          <p15:clr>
            <a:srgbClr xmlns:a="http://schemas.openxmlformats.org/drawingml/2006/main" val="F26B43"/>
          </p15:clr>
        </p15:guide>
        <p15:guide id="21" orient="horz" pos="1496">
          <p15:clr>
            <a:srgbClr xmlns:a="http://schemas.openxmlformats.org/drawingml/2006/main" val="F26B43"/>
          </p15:clr>
        </p15:guide>
        <p15:guide id="22" orient="horz" pos="1904">
          <p15:clr>
            <a:srgbClr xmlns:a="http://schemas.openxmlformats.org/drawingml/2006/main" val="F26B43"/>
          </p15:clr>
        </p15:guide>
        <p15:guide id="23" orient="horz" pos="2120">
          <p15:clr>
            <a:srgbClr xmlns:a="http://schemas.openxmlformats.org/drawingml/2006/main" val="F26B43"/>
          </p15:clr>
        </p15:guide>
        <p15:guide id="24" orient="horz" pos="2528">
          <p15:clr>
            <a:srgbClr xmlns:a="http://schemas.openxmlformats.org/drawingml/2006/main" val="F26B43"/>
          </p15:clr>
        </p15:guide>
        <p15:guide id="25" orient="horz" pos="2744">
          <p15:clr>
            <a:srgbClr xmlns:a="http://schemas.openxmlformats.org/drawingml/2006/main" val="F26B43"/>
          </p15:clr>
        </p15:guide>
        <p15:guide id="26" orient="horz" pos="3152">
          <p15:clr>
            <a:srgbClr xmlns:a="http://schemas.openxmlformats.org/drawingml/2006/main" val="F26B43"/>
          </p15:clr>
        </p15:guide>
        <p15:guide id="27" orient="horz" pos="3368">
          <p15:clr>
            <a:srgbClr xmlns:a="http://schemas.openxmlformats.org/drawingml/2006/main" val="F26B43"/>
          </p15:clr>
        </p15:guide>
        <p15:guide id="28" orient="horz" pos="3776">
          <p15:clr>
            <a:srgbClr xmlns:a="http://schemas.openxmlformats.org/drawingml/2006/main" val="F26B43"/>
          </p15:clr>
        </p15:guide>
        <p15:guide id="29" orient="horz" pos="4088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e3f48b132c49e3" /><Relationship Type="http://schemas.openxmlformats.org/officeDocument/2006/relationships/notesSlide" Target="/ppt/notesSlides/notesSlide1.xml" Id="Ref10aa02c2c04f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d5f86cd84e46d2" /><Relationship Type="http://schemas.openxmlformats.org/officeDocument/2006/relationships/notesSlide" Target="/ppt/notesSlides/notesSlide2.xml" Id="R174d107fef5243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39052b91d44cd5" /><Relationship Type="http://schemas.openxmlformats.org/officeDocument/2006/relationships/notesSlide" Target="/ppt/notesSlides/notesSlide3.xml" Id="R513881f4d37041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D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F8D2E-D035-4810-92EF-179EA3A9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ACCOUNT HANDOFF 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2AC2E-C931-4DE3-ACF3-2EC4452B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Terrapin Touring Co.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4C6BB-3D77-4281-AAAF-A68402EB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BATON  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03640-89A2-4D03-85D1-4A278B73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73A81-6F14-41A9-AEF9-73CB3B84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75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Needs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D2D03-E2BD-47F0-88B0-BF182425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CURRENT OWNER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367809-FADF-466E-85EF-9EC0557F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419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Althea Cassidy, Customer Success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C8408-CB75-4791-B1B3-DB96BBD2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9625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LATEST TRANSFER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D12358-E1CA-481B-B23B-DE6EDDCE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4191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Implementation to Customer Success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2026-12-01 [S1]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AFFAC-BAD4-42BD-B7B3-D2F3A56F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8600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SOURCE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00F97-ABA3-4212-9C04-2D87BD9B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19375"/>
            <a:ext cx="4857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Six venues are reporting and 96% of priority alerts arrive within 15 minutes. Training and QBR dates remain unconfirmed; the Dec 18 goal remains open. [S1, S3]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99D18-3175-43EA-84EC-94D02722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3862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CUSTOMER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6D8674-9C79-4497-A81A-F04AC3C3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72000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1926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Maintain a single security view across six venues and monthly executive reporting. [S1, S2]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75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Althea Cassidy owns Customer Success. Scarlet remains sponsor; Casey remains the customer technical owner. [S1]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B79FF-7489-4FE1-81C4-155D7D97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WORK THAT STILL NEEDS AN OWNER OR 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5B60E-F8BF-4573-949C-E904C10F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Open action items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DAD2B-42AE-4933-8D5A-7DD02F16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BATON  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13B38-65FF-454F-93C2-20BDCF12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567268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57B69-0561-487D-815C-7DB9AFF6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53566-B01A-4B82-8F86-3E2A261D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907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Verify mean investigation time ≤42 minutes against the agreed 60-minute baseline. [S1, S2]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62A52-F939-4EA2-BAA8-DA70A6E7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0980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2026-12-18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F48F6-F124-4CBB-A851-8955C0C9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C870D-5CAB-497B-B00C-2E50B0A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7662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Confirm the customer training session and record the agreed date. [S3]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44FC8-2845-4D76-8A2F-E9B8CF84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95675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Not Confirmed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0C7FF5-F785-4059-BA98-89E99CB9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100">
                <a:solidFill>
                  <a:srgbClr val="4A7A1D"/>
                </a:solidFill>
                <a:latin typeface="Inter Medium"/>
                <a:ea typeface="Inter Medium"/>
                <a:cs typeface="Inter Medium"/>
              </a:defRPr>
            </a:pPr>
            <a: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9F80-8A76-4080-ADD6-95E551D4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625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650">
                <a:solidFill>
                  <a:srgbClr val="0A2D22"/>
                </a:solidFill>
                <a:latin typeface="Inter Medium"/>
                <a:ea typeface="Inter Medium"/>
                <a:cs typeface="Inter Medium"/>
              </a:defRPr>
            </a:pPr>
            <a:r>
              <a:t>Confirm the first QBR date with the customer. [S3]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4DB51-DFBD-451E-8BA4-D6EA10C7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815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0A2D22"/>
                </a:solidFill>
                <a:latin typeface="Inter"/>
                <a:ea typeface="Inter"/>
                <a:cs typeface="Inter"/>
              </a:defRPr>
            </a:pPr>
            <a:r>
              <a:t>Due: Not Confirmed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2D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9E55FA-F7BB-4698-8308-B4D5BE9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12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RECORDED MILESTONES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86140-B344-4241-B152-8DF20223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1066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322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Dates and handoff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B5965-C2F0-4301-8098-56D8B6FF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BATON  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89D615-B9EB-4469-A89F-761A5BCB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6477000"/>
            <a:ext cx="457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rgbClr val="B8C9C0"/>
                </a:solidFill>
                <a:latin typeface="Inter"/>
                <a:ea typeface="Inter"/>
                <a:cs typeface="Inter"/>
              </a:defRPr>
            </a:pPr>
            <a:r>
              <a:t>FICTIONAL, SIMULATED EXAMPLE   2026-12-01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FD9ED-5F1B-452F-8D89-10E36819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2026-09-16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15C44-3EE6-43E1-B5CA-4E8FB90A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336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Sales to Implementation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C364A9-3434-4237-B7A9-81097209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Ready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B9235-AB2A-4532-88EF-3DA6B848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90825"/>
            <a:ext cx="7905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Samson Delilah hands the account to Ruben Cherise. Agreed owners, rollout dates and measures support implementation. SSO remains a rollout gate; the December investigation-time goal is still due. [S1, S4]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05D0E-5423-4B38-ADD6-D7437625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528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BCEF59"/>
                </a:solidFill>
                <a:latin typeface="Inter Medium"/>
                <a:ea typeface="Inter Medium"/>
                <a:cs typeface="Inter Medium"/>
              </a:defRPr>
            </a:pPr>
            <a:r>
              <a:t>2026-12-01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6F0CC-A469-44B1-8BE7-3101D909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5287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Implementation to Customer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713B0-490C-4883-94B5-EF2E2EB0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F7C96A"/>
                </a:solidFill>
                <a:latin typeface="Inter Medium"/>
                <a:ea typeface="Inter Medium"/>
                <a:cs typeface="Inter Medium"/>
              </a:defRPr>
            </a:pPr>
            <a:r>
              <a:t>Needs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E7D19-DB13-46BC-AAF7-711F288B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0075"/>
            <a:ext cx="7905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Ruben Cherise hands the account to Althea Cassidy. Six venues are reporting and 96% of priority alerts arrive within 15 minutes. Training and QBR dates remain unconfirmed; the Dec 18 goal remains open. [S1, S3]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2026-09-17T12:29:59.6920000Z</dcterms:created>
  <dcterms:modified xsi:type="dcterms:W3CDTF">2026-09-17T12:29:59.6920000Z</dcterms:modified>
</coreProperties>
</file>