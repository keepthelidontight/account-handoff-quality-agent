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13b4812d484948" /><Relationship Type="http://schemas.openxmlformats.org/officeDocument/2006/relationships/extended-properties" Target="/docProps/app.xml" Id="R006840195f09415f" /><Relationship Type="http://schemas.openxmlformats.org/officeDocument/2006/relationships/officeDocument" Target="/ppt/presentation.xml" Id="R20e62ee93e384d98" /></Relationships>
</file>

<file path=ppt/presentation.xml><?xml version="1.0" encoding="utf-8"?>
<p:presentation xmlns:p="http://schemas.openxmlformats.org/presentationml/2006/main">
  <p:sldMasterIdLst>
    <p:sldMasterId xmlns:r="http://schemas.openxmlformats.org/officeDocument/2006/relationships" id="2147483648" r:id="R623dec2bd1f9485e"/>
  </p:sldMasterIdLst>
  <p:notesMasterIdLst>
    <p:notesMasterId xmlns:r="http://schemas.openxmlformats.org/officeDocument/2006/relationships" r:id="R3a02a3a0f69c4b79"/>
  </p:notesMasterIdLst>
  <p:sldIdLst>
    <p:sldId xmlns:r="http://schemas.openxmlformats.org/officeDocument/2006/relationships" id="256" r:id="R6a0b72d102b14a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8e65213a8b416c" /><Relationship Type="http://schemas.openxmlformats.org/officeDocument/2006/relationships/slideMaster" Target="/ppt/slideMasters/slideMaster1.xml" Id="R623dec2bd1f9485e" /><Relationship Type="http://schemas.openxmlformats.org/officeDocument/2006/relationships/notesMaster" Target="/ppt/notesMasters/notesMaster1.xml" Id="R3a02a3a0f69c4b79" /><Relationship Type="http://schemas.openxmlformats.org/officeDocument/2006/relationships/presProps" Target="/ppt/presProps.xml" Id="R4142a873c69e47e2" /><Relationship Type="http://schemas.openxmlformats.org/officeDocument/2006/relationships/tableStyles" Target="/ppt/tableStyles.xml" Id="Re1c9db38ef764d74" /><Relationship Type="http://schemas.openxmlformats.org/officeDocument/2006/relationships/slide" Target="/ppt/slides/slide1.xml" Id="R6a0b72d102b14a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cde23eb61e47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b10b51525a4859" /><Relationship Type="http://schemas.openxmlformats.org/officeDocument/2006/relationships/notesMaster" Target="/ppt/notesMasters/notesMaster1.xml" Id="R20675bc31fa945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summary for the Apollo assignment, separate from the ongoing account handoff deck.</a:t>
            </a:r>
          </a:p>
          <a:p xmlns:a="http://schemas.openxmlformats.org/drawingml/2006/main">
            <a:r>
              <a:t>Sources: SKILL.md; README.md; examples/handoffs/terrapin-history.json; scripts/manage_handoffs.py; docs/validation-notes.md.</a:t>
            </a:r>
          </a:p>
          <a:p xmlns:a="http://schemas.openxmlformats.org/drawingml/2006/main">
            <a:r>
              <a:t>The September 16 event transfers Samson Delilah (Sales) to Ruben Cherise (Implementation), assessed Ready under the sales profile.</a:t>
            </a:r>
          </a:p>
          <a:p xmlns:a="http://schemas.openxmlformats.org/drawingml/2006/main">
            <a:r>
              <a:t>December 1 is a fictional future transfer from Ruben to Althea Cassidy (Customer Success), assessed Needs Review under the generic internal-transfer profile because customer training and QBR dates remain unconfirmed. It has no sales-validator baseline.</a:t>
            </a:r>
          </a:p>
          <a:p xmlns:a="http://schemas.openxmlformats.org/drawingml/2006/main">
            <a:r>
              <a:t>The December 18 investigation-time check retains Ruben as its action owner when omitted from the second event. The current account owner is Althea. Customer contacts are distinct from these internal owners.</a:t>
            </a:r>
          </a:p>
          <a:p xmlns:a="http://schemas.openxmlformats.org/drawingml/2006/main">
            <a:r>
              <a:t>The renderer rebuilds from saved history, preserving earlier content. It does not edit an old PowerPoint, detect CRM owner changes or write back to CRM. Manual deck edits do not update history. Python helpers use the standard library. PPTX rendering additionally needs Node.js and the @oai/artifact-tool library supplied in the demo's Codex environment.</a:t>
            </a:r>
          </a:p>
          <a:p xmlns:a="http://schemas.openxmlformats.org/drawingml/2006/main">
            <a:r>
              <a:t>Verification: 56 Python tests passed, comprising 27 sales-validator tests and 29 history tests. The separate two-export agent review predates the ongoing deck feature and is a limited check of sales-note interpretation. No business-impact results have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9d0685ffd94c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19bbe2cb0d4ac0" /><Relationship Type="http://schemas.openxmlformats.org/officeDocument/2006/relationships/slideLayout" Target="/ppt/slideLayouts/slideLayout1.xml" Id="R356736903b7149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6736903b7149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735bddf2af4b9c" /><Relationship Type="http://schemas.openxmlformats.org/officeDocument/2006/relationships/notesSlide" Target="/ppt/notesSlides/notesSlide1.xml" Id="R954f6e956b8b4485" /></Relationships>
</file>

<file path=ppt/slides/slide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94168F1-BF24-4294-940D-9157C49F2B80}"/>
              </a:ext>
            </a:extLst>
          </p:cNvPr>
          <p:cNvSpPr>
            <a:spLocks xmlns:a="http://schemas.openxmlformats.org/drawingml/2006/main" noGrp="1"/>
          </p:cNvSpPr>
          <p:nvPr/>
        </p:nvSpPr>
        <p:spPr>
          <a:xfrm xmlns:a="http://schemas.openxmlformats.org/drawingml/2006/main">
            <a:off x="609600" y="3238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75" b="1">
                <a:solidFill>
                  <a:srgbClr val="172D42"/>
                </a:solidFill>
                <a:latin typeface="Arial"/>
                <a:ea typeface="Arial"/>
                <a:cs typeface="Arial"/>
              </a:defRPr>
            </a:pPr>
            <a:r>
              <a:rPr sz="3675" b="1">
                <a:solidFill>
                  <a:srgbClr val="172D42"/>
                </a:solidFill>
                <a:latin typeface="Arial"/>
                <a:ea typeface="Arial"/>
                <a:cs typeface="Arial"/>
              </a:rPr>
              <a:t>Baton</a:t>
            </a:r>
          </a:p>
        </p:txBody>
      </p:sp>
      <p:sp>
        <p:nvSpPr>
          <p:cNvPr id="2" name="">
            <a:extLst xmlns:a="http://schemas.openxmlformats.org/drawingml/2006/main">
              <a:ext uri="{FF2B5EF4-FFF2-40B4-BE49-F238E27FC236}">
                <a16:creationId xmlns:a16="http://schemas.microsoft.com/office/drawing/2014/main" id="{81EB2083-B34A-46A5-BA3F-412EE1051DC7}"/>
              </a:ext>
            </a:extLst>
          </p:cNvPr>
          <p:cNvSpPr>
            <a:spLocks xmlns:a="http://schemas.openxmlformats.org/drawingml/2006/main" noGrp="1"/>
          </p:cNvSpPr>
          <p:nvPr/>
        </p:nvSpPr>
        <p:spPr>
          <a:xfrm xmlns:a="http://schemas.openxmlformats.org/drawingml/2006/main">
            <a:off x="628650" y="1076325"/>
            <a:ext cx="10934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72D42"/>
                </a:solidFill>
                <a:latin typeface="Arial"/>
                <a:ea typeface="Arial"/>
                <a:cs typeface="Arial"/>
              </a:defRPr>
            </a:pPr>
            <a:r>
              <a:rPr sz="2175" b="0">
                <a:solidFill>
                  <a:srgbClr val="172D42"/>
                </a:solidFill>
                <a:latin typeface="Arial"/>
                <a:ea typeface="Arial"/>
                <a:cs typeface="Arial"/>
              </a:rPr>
              <a:t>One account deck that grows with each handoff.</a:t>
            </a:r>
          </a:p>
        </p:txBody>
      </p:sp>
      <p:sp>
        <p:nvSpPr>
          <p:cNvPr id="3" name="">
            <a:extLst xmlns:a="http://schemas.openxmlformats.org/drawingml/2006/main">
              <a:ext uri="{FF2B5EF4-FFF2-40B4-BE49-F238E27FC236}">
                <a16:creationId xmlns:a16="http://schemas.microsoft.com/office/drawing/2014/main" id="{D2DC84CC-1304-42DD-A199-A348A8B95E04}"/>
              </a:ext>
            </a:extLst>
          </p:cNvPr>
          <p:cNvSpPr>
            <a:spLocks xmlns:a="http://schemas.openxmlformats.org/drawingml/2006/main" noGrp="1"/>
          </p:cNvSpPr>
          <p:nvPr/>
        </p:nvSpPr>
        <p:spPr>
          <a:xfrm xmlns:a="http://schemas.openxmlformats.org/drawingml/2006/main">
            <a:off x="628650" y="156210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3606A"/>
                </a:solidFill>
                <a:latin typeface="Arial"/>
                <a:ea typeface="Arial"/>
                <a:cs typeface="Arial"/>
              </a:defRPr>
            </a:pPr>
            <a:r>
              <a:rPr sz="1875" b="0">
                <a:solidFill>
                  <a:srgbClr val="53606A"/>
                </a:solidFill>
                <a:latin typeface="Arial"/>
                <a:ea typeface="Arial"/>
                <a:cs typeface="Arial"/>
              </a:rPr>
              <a:t>The aim: less handoff rework and fewer dropped commitments.</a:t>
            </a:r>
          </a:p>
        </p:txBody>
      </p:sp>
      <p:sp>
        <p:nvSpPr>
          <p:cNvPr id="4" name="">
            <a:extLst xmlns:a="http://schemas.openxmlformats.org/drawingml/2006/main">
              <a:ext uri="{FF2B5EF4-FFF2-40B4-BE49-F238E27FC236}">
                <a16:creationId xmlns:a16="http://schemas.microsoft.com/office/drawing/2014/main" id="{55D9AD1D-3D42-4772-AAA1-5E99643A4285}"/>
              </a:ext>
            </a:extLst>
          </p:cNvPr>
          <p:cNvSpPr>
            <a:spLocks xmlns:a="http://schemas.openxmlformats.org/drawingml/2006/main" noGrp="1"/>
          </p:cNvSpPr>
          <p:nvPr/>
        </p:nvSpPr>
        <p:spPr>
          <a:xfrm xmlns:a="http://schemas.openxmlformats.org/drawingml/2006/main">
            <a:off x="628650" y="2505075"/>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13" b="1">
                <a:solidFill>
                  <a:srgbClr val="172D42"/>
                </a:solidFill>
                <a:latin typeface="Arial"/>
                <a:ea typeface="Arial"/>
                <a:cs typeface="Arial"/>
              </a:defRPr>
            </a:pPr>
            <a:r>
              <a:rPr sz="1913" b="1">
                <a:solidFill>
                  <a:srgbClr val="172D42"/>
                </a:solidFill>
                <a:latin typeface="Arial"/>
                <a:ea typeface="Arial"/>
                <a:cs typeface="Arial"/>
              </a:rPr>
              <a:t>Transfer evidence</a:t>
            </a:r>
          </a:p>
        </p:txBody>
      </p:sp>
      <p:sp>
        <p:nvSpPr>
          <p:cNvPr id="5" name="">
            <a:extLst xmlns:a="http://schemas.openxmlformats.org/drawingml/2006/main">
              <a:ext uri="{FF2B5EF4-FFF2-40B4-BE49-F238E27FC236}">
                <a16:creationId xmlns:a16="http://schemas.microsoft.com/office/drawing/2014/main" id="{0ADCC359-DD35-49C5-8E99-F2E2DAD51806}"/>
              </a:ext>
            </a:extLst>
          </p:cNvPr>
          <p:cNvSpPr>
            <a:spLocks xmlns:a="http://schemas.openxmlformats.org/drawingml/2006/main" noGrp="1"/>
          </p:cNvSpPr>
          <p:nvPr/>
        </p:nvSpPr>
        <p:spPr>
          <a:xfrm xmlns:a="http://schemas.openxmlformats.org/drawingml/2006/main">
            <a:off x="628650" y="2943225"/>
            <a:ext cx="2714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Five sales CSVs, owner</a:t>
            </a:r>
          </a:p>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changes and notes</a:t>
            </a:r>
          </a:p>
        </p:txBody>
      </p:sp>
      <p:sp>
        <p:nvSpPr>
          <p:cNvPr id="6" name="">
            <a:extLst xmlns:a="http://schemas.openxmlformats.org/drawingml/2006/main">
              <a:ext uri="{FF2B5EF4-FFF2-40B4-BE49-F238E27FC236}">
                <a16:creationId xmlns:a16="http://schemas.microsoft.com/office/drawing/2014/main" id="{022022B1-658C-45B8-AEB1-2D9227986C6C}"/>
              </a:ext>
            </a:extLst>
          </p:cNvPr>
          <p:cNvSpPr>
            <a:spLocks xmlns:a="http://schemas.openxmlformats.org/drawingml/2006/main" noGrp="1"/>
          </p:cNvSpPr>
          <p:nvPr/>
        </p:nvSpPr>
        <p:spPr>
          <a:xfrm xmlns:a="http://schemas.openxmlformats.org/drawingml/2006/main">
            <a:off x="3619500" y="2505075"/>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13" b="1">
                <a:solidFill>
                  <a:srgbClr val="172D42"/>
                </a:solidFill>
                <a:latin typeface="Arial"/>
                <a:ea typeface="Arial"/>
                <a:cs typeface="Arial"/>
              </a:defRPr>
            </a:pPr>
            <a:r>
              <a:rPr sz="1913" b="1">
                <a:solidFill>
                  <a:srgbClr val="172D42"/>
                </a:solidFill>
                <a:latin typeface="Arial"/>
                <a:ea typeface="Arial"/>
                <a:cs typeface="Arial"/>
              </a:rPr>
              <a:t>Python + skill</a:t>
            </a:r>
          </a:p>
        </p:txBody>
      </p:sp>
      <p:sp>
        <p:nvSpPr>
          <p:cNvPr id="7" name="">
            <a:extLst xmlns:a="http://schemas.openxmlformats.org/drawingml/2006/main">
              <a:ext uri="{FF2B5EF4-FFF2-40B4-BE49-F238E27FC236}">
                <a16:creationId xmlns:a16="http://schemas.microsoft.com/office/drawing/2014/main" id="{60878785-2C2E-478C-AB2C-D9699D53757B}"/>
              </a:ext>
            </a:extLst>
          </p:cNvPr>
          <p:cNvSpPr>
            <a:spLocks xmlns:a="http://schemas.openxmlformats.org/drawingml/2006/main" noGrp="1"/>
          </p:cNvSpPr>
          <p:nvPr/>
        </p:nvSpPr>
        <p:spPr>
          <a:xfrm xmlns:a="http://schemas.openxmlformats.org/drawingml/2006/main">
            <a:off x="3619500" y="2943225"/>
            <a:ext cx="2714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Check records and</a:t>
            </a:r>
          </a:p>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assess the evidence</a:t>
            </a:r>
          </a:p>
        </p:txBody>
      </p:sp>
      <p:sp>
        <p:nvSpPr>
          <p:cNvPr id="8" name="">
            <a:extLst xmlns:a="http://schemas.openxmlformats.org/drawingml/2006/main">
              <a:ext uri="{FF2B5EF4-FFF2-40B4-BE49-F238E27FC236}">
                <a16:creationId xmlns:a16="http://schemas.microsoft.com/office/drawing/2014/main" id="{34F65BED-CAD0-404F-9634-5562F8826B68}"/>
              </a:ext>
            </a:extLst>
          </p:cNvPr>
          <p:cNvSpPr>
            <a:spLocks xmlns:a="http://schemas.openxmlformats.org/drawingml/2006/main" noGrp="1"/>
          </p:cNvSpPr>
          <p:nvPr/>
        </p:nvSpPr>
        <p:spPr>
          <a:xfrm xmlns:a="http://schemas.openxmlformats.org/drawingml/2006/main">
            <a:off x="6610350" y="2505075"/>
            <a:ext cx="271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13" b="1">
                <a:solidFill>
                  <a:srgbClr val="172D42"/>
                </a:solidFill>
                <a:latin typeface="Arial"/>
                <a:ea typeface="Arial"/>
                <a:cs typeface="Arial"/>
              </a:defRPr>
            </a:pPr>
            <a:r>
              <a:rPr sz="1913" b="1">
                <a:solidFill>
                  <a:srgbClr val="172D42"/>
                </a:solidFill>
                <a:latin typeface="Arial"/>
                <a:ea typeface="Arial"/>
                <a:cs typeface="Arial"/>
              </a:rPr>
              <a:t>Saved history</a:t>
            </a:r>
          </a:p>
        </p:txBody>
      </p:sp>
      <p:sp>
        <p:nvSpPr>
          <p:cNvPr id="9" name="">
            <a:extLst xmlns:a="http://schemas.openxmlformats.org/drawingml/2006/main">
              <a:ext uri="{FF2B5EF4-FFF2-40B4-BE49-F238E27FC236}">
                <a16:creationId xmlns:a16="http://schemas.microsoft.com/office/drawing/2014/main" id="{458A3F19-ADAB-4587-9CC5-91EE33100480}"/>
              </a:ext>
            </a:extLst>
          </p:cNvPr>
          <p:cNvSpPr>
            <a:spLocks xmlns:a="http://schemas.openxmlformats.org/drawingml/2006/main" noGrp="1"/>
          </p:cNvSpPr>
          <p:nvPr/>
        </p:nvSpPr>
        <p:spPr>
          <a:xfrm xmlns:a="http://schemas.openxmlformats.org/drawingml/2006/main">
            <a:off x="6610350" y="2943225"/>
            <a:ext cx="2714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Keep dated facts</a:t>
            </a:r>
          </a:p>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and unfinished work</a:t>
            </a:r>
          </a:p>
        </p:txBody>
      </p:sp>
      <p:sp>
        <p:nvSpPr>
          <p:cNvPr id="10" name="">
            <a:extLst xmlns:a="http://schemas.openxmlformats.org/drawingml/2006/main">
              <a:ext uri="{FF2B5EF4-FFF2-40B4-BE49-F238E27FC236}">
                <a16:creationId xmlns:a16="http://schemas.microsoft.com/office/drawing/2014/main" id="{7B3BF414-39AB-4713-BBEE-AE40F55957C0}"/>
              </a:ext>
            </a:extLst>
          </p:cNvPr>
          <p:cNvSpPr>
            <a:spLocks xmlns:a="http://schemas.openxmlformats.org/drawingml/2006/main" noGrp="1"/>
          </p:cNvSpPr>
          <p:nvPr/>
        </p:nvSpPr>
        <p:spPr>
          <a:xfrm xmlns:a="http://schemas.openxmlformats.org/drawingml/2006/main">
            <a:off x="9601200" y="2505075"/>
            <a:ext cx="20669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13" b="1">
                <a:solidFill>
                  <a:srgbClr val="172D42"/>
                </a:solidFill>
                <a:latin typeface="Arial"/>
                <a:ea typeface="Arial"/>
                <a:cs typeface="Arial"/>
              </a:defRPr>
            </a:pPr>
            <a:r>
              <a:rPr sz="1913" b="1">
                <a:solidFill>
                  <a:srgbClr val="172D42"/>
                </a:solidFill>
                <a:latin typeface="Arial"/>
                <a:ea typeface="Arial"/>
                <a:cs typeface="Arial"/>
              </a:rPr>
              <a:t>Account deck</a:t>
            </a:r>
          </a:p>
        </p:txBody>
      </p:sp>
      <p:sp>
        <p:nvSpPr>
          <p:cNvPr id="11" name="">
            <a:extLst xmlns:a="http://schemas.openxmlformats.org/drawingml/2006/main">
              <a:ext uri="{FF2B5EF4-FFF2-40B4-BE49-F238E27FC236}">
                <a16:creationId xmlns:a16="http://schemas.microsoft.com/office/drawing/2014/main" id="{5FD1EE95-2651-4A40-AA65-FBD8781C1A1C}"/>
              </a:ext>
            </a:extLst>
          </p:cNvPr>
          <p:cNvSpPr>
            <a:spLocks xmlns:a="http://schemas.openxmlformats.org/drawingml/2006/main" noGrp="1"/>
          </p:cNvSpPr>
          <p:nvPr/>
        </p:nvSpPr>
        <p:spPr>
          <a:xfrm xmlns:a="http://schemas.openxmlformats.org/drawingml/2006/main">
            <a:off x="9601200" y="2943225"/>
            <a:ext cx="2066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Latest view and</a:t>
            </a:r>
          </a:p>
          <a:p xmlns:a="http://schemas.openxmlformats.org/drawingml/2006/main">
            <a:pPr>
              <a:defRPr sz="1650" b="0">
                <a:solidFill>
                  <a:srgbClr val="53606A"/>
                </a:solidFill>
                <a:latin typeface="Arial"/>
                <a:ea typeface="Arial"/>
                <a:cs typeface="Arial"/>
              </a:defRPr>
            </a:pPr>
            <a:r>
              <a:rPr sz="1650" b="0">
                <a:solidFill>
                  <a:srgbClr val="53606A"/>
                </a:solidFill>
                <a:latin typeface="Arial"/>
                <a:ea typeface="Arial"/>
                <a:cs typeface="Arial"/>
              </a:rPr>
              <a:t>dated handoffs</a:t>
            </a:r>
          </a:p>
        </p:txBody>
      </p:sp>
      <p:sp>
        <p:nvSpPr>
          <p:cNvPr id="12" name="">
            <a:extLst xmlns:a="http://schemas.openxmlformats.org/drawingml/2006/main">
              <a:ext uri="{FF2B5EF4-FFF2-40B4-BE49-F238E27FC236}">
                <a16:creationId xmlns:a16="http://schemas.microsoft.com/office/drawing/2014/main" id="{62552A2C-F86F-42E0-92E3-39388FC25E4E}"/>
              </a:ext>
            </a:extLst>
          </p:cNvPr>
          <p:cNvSpPr>
            <a:spLocks xmlns:a="http://schemas.openxmlformats.org/drawingml/2006/main" noGrp="1"/>
          </p:cNvSpPr>
          <p:nvPr/>
        </p:nvSpPr>
        <p:spPr>
          <a:xfrm xmlns:a="http://schemas.openxmlformats.org/drawingml/2006/main">
            <a:off x="628650" y="39147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72D42"/>
                </a:solidFill>
                <a:latin typeface="Arial"/>
                <a:ea typeface="Arial"/>
                <a:cs typeface="Arial"/>
              </a:defRPr>
            </a:pPr>
            <a:r>
              <a:rPr sz="2250" b="1">
                <a:solidFill>
                  <a:srgbClr val="172D42"/>
                </a:solidFill>
                <a:latin typeface="Arial"/>
                <a:ea typeface="Arial"/>
                <a:cs typeface="Arial"/>
              </a:rPr>
              <a:t>Terrapin keeps both handoffs</a:t>
            </a:r>
          </a:p>
        </p:txBody>
      </p:sp>
      <p:sp>
        <p:nvSpPr>
          <p:cNvPr id="13" name="">
            <a:extLst xmlns:a="http://schemas.openxmlformats.org/drawingml/2006/main">
              <a:ext uri="{FF2B5EF4-FFF2-40B4-BE49-F238E27FC236}">
                <a16:creationId xmlns:a16="http://schemas.microsoft.com/office/drawing/2014/main" id="{28573A89-430E-4C5D-9B1E-BF3576B012D3}"/>
              </a:ext>
            </a:extLst>
          </p:cNvPr>
          <p:cNvSpPr>
            <a:spLocks xmlns:a="http://schemas.openxmlformats.org/drawingml/2006/main" noGrp="1"/>
          </p:cNvSpPr>
          <p:nvPr/>
        </p:nvSpPr>
        <p:spPr>
          <a:xfrm xmlns:a="http://schemas.openxmlformats.org/drawingml/2006/main">
            <a:off x="628650" y="4438650"/>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13" b="0">
                <a:solidFill>
                  <a:srgbClr val="53606A"/>
                </a:solidFill>
                <a:latin typeface="Arial"/>
                <a:ea typeface="Arial"/>
                <a:cs typeface="Arial"/>
              </a:defRPr>
            </a:pPr>
            <a:r>
              <a:rPr sz="1613" b="0">
                <a:solidFill>
                  <a:srgbClr val="53606A"/>
                </a:solidFill>
                <a:latin typeface="Arial"/>
                <a:ea typeface="Arial"/>
                <a:cs typeface="Arial"/>
              </a:rPr>
              <a:t>September 16, 2026</a:t>
            </a:r>
          </a:p>
        </p:txBody>
      </p:sp>
      <p:sp>
        <p:nvSpPr>
          <p:cNvPr id="14" name="">
            <a:extLst xmlns:a="http://schemas.openxmlformats.org/drawingml/2006/main">
              <a:ext uri="{FF2B5EF4-FFF2-40B4-BE49-F238E27FC236}">
                <a16:creationId xmlns:a16="http://schemas.microsoft.com/office/drawing/2014/main" id="{F557CCD3-A000-4C06-808F-545A4F74335D}"/>
              </a:ext>
            </a:extLst>
          </p:cNvPr>
          <p:cNvSpPr>
            <a:spLocks xmlns:a="http://schemas.openxmlformats.org/drawingml/2006/main" noGrp="1"/>
          </p:cNvSpPr>
          <p:nvPr/>
        </p:nvSpPr>
        <p:spPr>
          <a:xfrm xmlns:a="http://schemas.openxmlformats.org/drawingml/2006/main">
            <a:off x="628650" y="4781550"/>
            <a:ext cx="4810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72D42"/>
                </a:solidFill>
                <a:latin typeface="Arial"/>
                <a:ea typeface="Arial"/>
                <a:cs typeface="Arial"/>
              </a:defRPr>
            </a:pPr>
            <a:r>
              <a:rPr sz="1950" b="1">
                <a:solidFill>
                  <a:srgbClr val="172D42"/>
                </a:solidFill>
                <a:latin typeface="Arial"/>
                <a:ea typeface="Arial"/>
                <a:cs typeface="Arial"/>
              </a:rPr>
              <a:t>Sales to Implementation</a:t>
            </a:r>
          </a:p>
        </p:txBody>
      </p:sp>
      <p:sp>
        <p:nvSpPr>
          <p:cNvPr id="15" name="">
            <a:extLst xmlns:a="http://schemas.openxmlformats.org/drawingml/2006/main">
              <a:ext uri="{FF2B5EF4-FFF2-40B4-BE49-F238E27FC236}">
                <a16:creationId xmlns:a16="http://schemas.microsoft.com/office/drawing/2014/main" id="{691E3A4C-DCB3-48C3-BE78-09AF2BA3EBA0}"/>
              </a:ext>
            </a:extLst>
          </p:cNvPr>
          <p:cNvSpPr>
            <a:spLocks xmlns:a="http://schemas.openxmlformats.org/drawingml/2006/main" noGrp="1"/>
          </p:cNvSpPr>
          <p:nvPr/>
        </p:nvSpPr>
        <p:spPr>
          <a:xfrm xmlns:a="http://schemas.openxmlformats.org/drawingml/2006/main">
            <a:off x="628650" y="5172075"/>
            <a:ext cx="4810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225344"/>
                </a:solidFill>
                <a:latin typeface="Arial"/>
                <a:ea typeface="Arial"/>
                <a:cs typeface="Arial"/>
              </a:defRPr>
            </a:pPr>
            <a:r>
              <a:rPr sz="2400" b="1">
                <a:solidFill>
                  <a:srgbClr val="225344"/>
                </a:solidFill>
                <a:latin typeface="Arial"/>
                <a:ea typeface="Arial"/>
                <a:cs typeface="Arial"/>
              </a:rPr>
              <a:t>Ready</a:t>
            </a:r>
          </a:p>
        </p:txBody>
      </p:sp>
      <p:sp>
        <p:nvSpPr>
          <p:cNvPr id="16" name="">
            <a:extLst xmlns:a="http://schemas.openxmlformats.org/drawingml/2006/main">
              <a:ext uri="{FF2B5EF4-FFF2-40B4-BE49-F238E27FC236}">
                <a16:creationId xmlns:a16="http://schemas.microsoft.com/office/drawing/2014/main" id="{6D881BE6-567D-4BE5-85B3-121EE53B8D18}"/>
              </a:ext>
            </a:extLst>
          </p:cNvPr>
          <p:cNvSpPr>
            <a:spLocks xmlns:a="http://schemas.openxmlformats.org/drawingml/2006/main" noGrp="1"/>
          </p:cNvSpPr>
          <p:nvPr/>
        </p:nvSpPr>
        <p:spPr>
          <a:xfrm xmlns:a="http://schemas.openxmlformats.org/drawingml/2006/main">
            <a:off x="6238875" y="443865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13" b="0">
                <a:solidFill>
                  <a:srgbClr val="53606A"/>
                </a:solidFill>
                <a:latin typeface="Arial"/>
                <a:ea typeface="Arial"/>
                <a:cs typeface="Arial"/>
              </a:defRPr>
            </a:pPr>
            <a:r>
              <a:rPr sz="1613" b="0">
                <a:solidFill>
                  <a:srgbClr val="53606A"/>
                </a:solidFill>
                <a:latin typeface="Arial"/>
                <a:ea typeface="Arial"/>
                <a:cs typeface="Arial"/>
              </a:rPr>
              <a:t>December 1, 2026 (simulated)</a:t>
            </a:r>
          </a:p>
        </p:txBody>
      </p:sp>
      <p:sp>
        <p:nvSpPr>
          <p:cNvPr id="17" name="">
            <a:extLst xmlns:a="http://schemas.openxmlformats.org/drawingml/2006/main">
              <a:ext uri="{FF2B5EF4-FFF2-40B4-BE49-F238E27FC236}">
                <a16:creationId xmlns:a16="http://schemas.microsoft.com/office/drawing/2014/main" id="{8BECE10E-7416-4585-9A6D-B251D6657806}"/>
              </a:ext>
            </a:extLst>
          </p:cNvPr>
          <p:cNvSpPr>
            <a:spLocks xmlns:a="http://schemas.openxmlformats.org/drawingml/2006/main" noGrp="1"/>
          </p:cNvSpPr>
          <p:nvPr/>
        </p:nvSpPr>
        <p:spPr>
          <a:xfrm xmlns:a="http://schemas.openxmlformats.org/drawingml/2006/main">
            <a:off x="6238875" y="4781550"/>
            <a:ext cx="533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72D42"/>
                </a:solidFill>
                <a:latin typeface="Arial"/>
                <a:ea typeface="Arial"/>
                <a:cs typeface="Arial"/>
              </a:defRPr>
            </a:pPr>
            <a:r>
              <a:rPr sz="1875" b="1">
                <a:solidFill>
                  <a:srgbClr val="172D42"/>
                </a:solidFill>
                <a:latin typeface="Arial"/>
                <a:ea typeface="Arial"/>
                <a:cs typeface="Arial"/>
              </a:rPr>
              <a:t>Implementation to Customer Success</a:t>
            </a:r>
          </a:p>
        </p:txBody>
      </p:sp>
      <p:sp>
        <p:nvSpPr>
          <p:cNvPr id="18" name="">
            <a:extLst xmlns:a="http://schemas.openxmlformats.org/drawingml/2006/main">
              <a:ext uri="{FF2B5EF4-FFF2-40B4-BE49-F238E27FC236}">
                <a16:creationId xmlns:a16="http://schemas.microsoft.com/office/drawing/2014/main" id="{B8E5A315-FFCF-418B-92C6-0BF83199BEAF}"/>
              </a:ext>
            </a:extLst>
          </p:cNvPr>
          <p:cNvSpPr>
            <a:spLocks xmlns:a="http://schemas.openxmlformats.org/drawingml/2006/main" noGrp="1"/>
          </p:cNvSpPr>
          <p:nvPr/>
        </p:nvSpPr>
        <p:spPr>
          <a:xfrm xmlns:a="http://schemas.openxmlformats.org/drawingml/2006/main">
            <a:off x="6238875" y="51720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A63646"/>
                </a:solidFill>
                <a:latin typeface="Arial"/>
                <a:ea typeface="Arial"/>
                <a:cs typeface="Arial"/>
              </a:defRPr>
            </a:pPr>
            <a:r>
              <a:rPr sz="2400" b="1">
                <a:solidFill>
                  <a:srgbClr val="A63646"/>
                </a:solidFill>
                <a:latin typeface="Arial"/>
                <a:ea typeface="Arial"/>
                <a:cs typeface="Arial"/>
              </a:rPr>
              <a:t>Needs Review</a:t>
            </a:r>
          </a:p>
        </p:txBody>
      </p:sp>
      <p:sp>
        <p:nvSpPr>
          <p:cNvPr id="19" name="">
            <a:extLst xmlns:a="http://schemas.openxmlformats.org/drawingml/2006/main">
              <a:ext uri="{FF2B5EF4-FFF2-40B4-BE49-F238E27FC236}">
                <a16:creationId xmlns:a16="http://schemas.microsoft.com/office/drawing/2014/main" id="{DBB1691A-1818-4987-A6CE-311D44869967}"/>
              </a:ext>
            </a:extLst>
          </p:cNvPr>
          <p:cNvSpPr>
            <a:spLocks xmlns:a="http://schemas.openxmlformats.org/drawingml/2006/main" noGrp="1"/>
          </p:cNvSpPr>
          <p:nvPr/>
        </p:nvSpPr>
        <p:spPr>
          <a:xfrm xmlns:a="http://schemas.openxmlformats.org/drawingml/2006/main">
            <a:off x="628650" y="5743575"/>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13" b="0">
                <a:solidFill>
                  <a:srgbClr val="172D42"/>
                </a:solidFill>
                <a:latin typeface="Arial"/>
                <a:ea typeface="Arial"/>
                <a:cs typeface="Arial"/>
              </a:defRPr>
            </a:pPr>
            <a:r>
              <a:rPr sz="1913" b="0">
                <a:solidFill>
                  <a:srgbClr val="172D42"/>
                </a:solidFill>
                <a:latin typeface="Arial"/>
                <a:ea typeface="Arial"/>
                <a:cs typeface="Arial"/>
              </a:rPr>
              <a:t>Althea owns the account. Ruben’s Dec 18 action stays open.</a:t>
            </a:r>
          </a:p>
        </p:txBody>
      </p:sp>
      <p:sp>
        <p:nvSpPr>
          <p:cNvPr id="20" name="">
            <a:extLst xmlns:a="http://schemas.openxmlformats.org/drawingml/2006/main">
              <a:ext uri="{FF2B5EF4-FFF2-40B4-BE49-F238E27FC236}">
                <a16:creationId xmlns:a16="http://schemas.microsoft.com/office/drawing/2014/main" id="{767E6B7A-5BF6-474B-B607-FE82C94DF506}"/>
              </a:ext>
            </a:extLst>
          </p:cNvPr>
          <p:cNvSpPr>
            <a:spLocks xmlns:a="http://schemas.openxmlformats.org/drawingml/2006/main" noGrp="1"/>
          </p:cNvSpPr>
          <p:nvPr/>
        </p:nvSpPr>
        <p:spPr>
          <a:xfrm xmlns:a="http://schemas.openxmlformats.org/drawingml/2006/main">
            <a:off x="628650" y="63341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13" b="0">
                <a:solidFill>
                  <a:srgbClr val="53606A"/>
                </a:solidFill>
                <a:latin typeface="Arial"/>
                <a:ea typeface="Arial"/>
                <a:cs typeface="Arial"/>
              </a:defRPr>
            </a:pPr>
            <a:r>
              <a:rPr sz="1313" b="0">
                <a:solidFill>
                  <a:srgbClr val="53606A"/>
                </a:solidFill>
                <a:latin typeface="Arial"/>
                <a:ea typeface="Arial"/>
                <a:cs typeface="Arial"/>
              </a:rPr>
              <a:t>No automatic CRM trigger or writeback. Fictional records. Business benefit is unmeasured.</a:t>
            </a:r>
          </a:p>
        </p:txBody>
      </p:sp>
    </p:spTree>
    <p:extLst>
      <p:ext uri="{BB962C8B-B14F-4D97-AF65-F5344CB8AC3E}">
        <p14:creationId xmlns:p14="http://schemas.microsoft.com/office/powerpoint/2010/main" val="1541372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2026-09-17T01:09:28.8500000Z</dcterms:created>
  <dcterms:modified xsi:type="dcterms:W3CDTF">2026-09-17T01:09:28.8500000Z</dcterms:modified>
</coreProperties>
</file>