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c886c8a0f34e07" /><Relationship Type="http://schemas.openxmlformats.org/officeDocument/2006/relationships/extended-properties" Target="/docProps/app.xml" Id="Rc5ff7dfc0fda4a74" /><Relationship Type="http://schemas.openxmlformats.org/officeDocument/2006/relationships/officeDocument" Target="/ppt/presentation.xml" Id="Rbbfd1de83c064b42" /></Relationships>
</file>

<file path=ppt/presentation.xml><?xml version="1.0" encoding="utf-8"?>
<p:presentation xmlns:p="http://schemas.openxmlformats.org/presentationml/2006/main">
  <p:sldMasterIdLst>
    <p:sldMasterId xmlns:r="http://schemas.openxmlformats.org/officeDocument/2006/relationships" id="2147483648" r:id="R995433fac64c4736"/>
  </p:sldMasterIdLst>
  <p:notesMasterIdLst>
    <p:notesMasterId xmlns:r="http://schemas.openxmlformats.org/officeDocument/2006/relationships" r:id="R716fefc327aa4576"/>
  </p:notesMasterIdLst>
  <p:sldIdLst>
    <p:sldId xmlns:r="http://schemas.openxmlformats.org/officeDocument/2006/relationships" id="256" r:id="Rfa6a42705ac844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c5acca11b74201" /><Relationship Type="http://schemas.openxmlformats.org/officeDocument/2006/relationships/slideMaster" Target="/ppt/slideMasters/slideMaster1.xml" Id="R995433fac64c4736" /><Relationship Type="http://schemas.openxmlformats.org/officeDocument/2006/relationships/notesMaster" Target="/ppt/notesMasters/notesMaster1.xml" Id="R716fefc327aa4576" /><Relationship Type="http://schemas.openxmlformats.org/officeDocument/2006/relationships/presProps" Target="/ppt/presProps.xml" Id="Rccf30edbb6074985" /><Relationship Type="http://schemas.openxmlformats.org/officeDocument/2006/relationships/tableStyles" Target="/ppt/tableStyles.xml" Id="R7ac2811e828a495e" /><Relationship Type="http://schemas.openxmlformats.org/officeDocument/2006/relationships/slide" Target="/ppt/slides/slide1.xml" Id="Rfa6a42705ac844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c785e8f7254b2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4d80308e644fc4" /><Relationship Type="http://schemas.openxmlformats.org/officeDocument/2006/relationships/notesMaster" Target="/ppt/notesMasters/notesMaster1.xml" Id="R0b9e8f2dc40b46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prototype reviews a Closed Won sales-to-post-sale handoff. Its intended value is less context hunting and fewer surprises at kickoff. No time savings or revenue impact have been measured.</a:t>
            </a:r>
          </a:p>
          <a:p xmlns:a="http://schemas.openxmlformats.org/drawingml/2006/main">
            <a:r>
              <a:t/>
            </a:r>
          </a:p>
          <a:p xmlns:a="http://schemas.openxmlformats.org/drawingml/2006/main">
            <a:r>
              <a:t>The five CSV objects are Account, Opportunity, Contact, OpportunityContactRole, and SalesNotes. Python selects the Closed Won opportunity, checks required fields and placeholder values, validates record relationships, and retains source evidence. The skill compares CRM fields with sales notes and produces a seven-section handoff assessment.</a:t>
            </a:r>
          </a:p>
          <a:p xmlns:a="http://schemas.openxmlformats.org/drawingml/2006/main">
            <a:r>
              <a:t/>
            </a:r>
          </a:p>
          <a:p xmlns:a="http://schemas.openxmlformats.org/drawingml/2006/main">
            <a:r>
              <a:t>In the conflicting-notes fixture, all structured prerequisites pass, so the validator baseline is Ready. Opportunity 0065g00003OPP001AAH, Implementation_Timeline__c, still lists the corporate pilot as 2026-10-05. Sales note a0N5g00001NOTE05AAH dated 2026-09-14 records an approved move to 2026-11-02, explicitly replacing the prior pilot start. It also says remaining rollout milestones and success-measurement deadlines require re-planning. The final assessment is Needs Review. The agent must cite both sources, keep the conflict visible, and leave resolution to people. A later note alone does not automatically establish authority.</a:t>
            </a:r>
          </a:p>
          <a:p xmlns:a="http://schemas.openxmlformats.org/drawingml/2006/main">
            <a:r>
              <a:t/>
            </a:r>
          </a:p>
          <a:p xmlns:a="http://schemas.openxmlformats.org/drawingml/2006/main">
            <a:r>
              <a:t>Sources within this repository: SKILL.md (Readiness Policy, Evidence Standard); scripts/analyze_handoff.py; scenarios/conflicting-notes/Opportunity.csv; scenarios/conflicting-notes/SalesNotes.csv; docs/validation-notes.md.</a:t>
            </a:r>
          </a:p>
          <a:p xmlns:a="http://schemas.openxmlformats.org/drawingml/2006/main">
            <a:r>
              <a:t/>
            </a:r>
          </a:p>
          <a:p xmlns:a="http://schemas.openxmlformats.org/drawingml/2006/main">
            <a:r>
              <a:t>The readiness policy is a POC business assumption: a missing sponsor, implementation timeline, or success criteria blocks the handoff. Other structured or semantic gaps require review. Malformed records and broken references are input errors, not readiness scores. v1 does not write to the CRM.</a:t>
            </a:r>
          </a:p>
          <a:p xmlns:a="http://schemas.openxmlformats.org/drawingml/2006/main">
            <a:r>
              <a:t/>
            </a:r>
          </a:p>
          <a:p xmlns:a="http://schemas.openxmlformats.org/drawingml/2006/main">
            <a:r>
              <a:t>All demo records are fictional and Grateful Dead themed. The prototype uses CSV snapshots, has no live Salesforce connection, and has no measured production impact. Production work would require agreed business rules, scoped access, data-retention controls, broader labeled evaluations, and review before any future CRM 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5124d3aebc494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83e1ecb74a64b07" /><Relationship Type="http://schemas.openxmlformats.org/officeDocument/2006/relationships/slideLayout" Target="/ppt/slideLayouts/slideLayout1.xml" Id="R244bebb963bd4b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4bebb963bd4b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89dfc4adbd4ee3" /><Relationship Type="http://schemas.openxmlformats.org/officeDocument/2006/relationships/notesSlide" Target="/ppt/notesSlides/notesSlide1.xml" Id="R90f639e52bd44c68" /></Relationships>
</file>

<file path=ppt/slides/slide1.xml><?xml version="1.0" encoding="utf-8"?>
<p:sld xmlns:p="http://schemas.openxmlformats.org/presentationml/2006/main">
  <p:cSld>
    <p:bg>
      <p:bgPr>
        <a:solidFill xmlns:a="http://schemas.openxmlformats.org/drawingml/2006/main">
          <a:srgbClr val="F7F4EC"/>
        </a:solid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7153A1BD-F826-403B-BDF3-5F0BF50381F9}"/>
              </a:ext>
            </a:extLst>
          </p:cNvPr>
          <p:cNvSpPr>
            <a:spLocks xmlns:a="http://schemas.openxmlformats.org/drawingml/2006/main" noGrp="1"/>
          </p:cNvSpPr>
          <p:nvPr/>
        </p:nvSpPr>
        <p:spPr>
          <a:xfrm xmlns:a="http://schemas.openxmlformats.org/drawingml/2006/main">
            <a:off x="552450" y="3429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2D42"/>
                </a:solidFill>
                <a:latin typeface="Arial"/>
                <a:ea typeface="Arial"/>
                <a:cs typeface="Arial"/>
              </a:defRPr>
            </a:pPr>
            <a:r>
              <a:rPr sz="3600" b="1">
                <a:solidFill>
                  <a:srgbClr val="172D42"/>
                </a:solidFill>
                <a:latin typeface="Arial"/>
                <a:ea typeface="Arial"/>
                <a:cs typeface="Arial"/>
              </a:rPr>
              <a:t>Account Handoff Quality Agent</a:t>
            </a:r>
          </a:p>
        </p:txBody>
      </p:sp>
      <p:sp>
        <p:nvSpPr>
          <p:cNvPr id="2" name="problem">
            <a:extLst xmlns:a="http://schemas.openxmlformats.org/drawingml/2006/main">
              <a:ext uri="{FF2B5EF4-FFF2-40B4-BE49-F238E27FC236}">
                <a16:creationId xmlns:a16="http://schemas.microsoft.com/office/drawing/2014/main" id="{7F6D4DC5-D741-473D-B151-C28601D8B21B}"/>
              </a:ext>
            </a:extLst>
          </p:cNvPr>
          <p:cNvSpPr>
            <a:spLocks xmlns:a="http://schemas.openxmlformats.org/drawingml/2006/main" noGrp="1"/>
          </p:cNvSpPr>
          <p:nvPr/>
        </p:nvSpPr>
        <p:spPr>
          <a:xfrm xmlns:a="http://schemas.openxmlformats.org/drawingml/2006/main">
            <a:off x="571500" y="1047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42"/>
                </a:solidFill>
                <a:latin typeface="Arial"/>
                <a:ea typeface="Arial"/>
                <a:cs typeface="Arial"/>
              </a:defRPr>
            </a:pPr>
            <a:r>
              <a:rPr sz="2100" b="0">
                <a:solidFill>
                  <a:srgbClr val="172D42"/>
                </a:solidFill>
                <a:latin typeface="Arial"/>
                <a:ea typeface="Arial"/>
                <a:cs typeface="Arial"/>
              </a:rPr>
              <a:t>Closed Won fields can miss promises buried in sales notes.</a:t>
            </a:r>
          </a:p>
        </p:txBody>
      </p:sp>
      <p:sp>
        <p:nvSpPr>
          <p:cNvPr id="3" name="value">
            <a:extLst xmlns:a="http://schemas.openxmlformats.org/drawingml/2006/main">
              <a:ext uri="{FF2B5EF4-FFF2-40B4-BE49-F238E27FC236}">
                <a16:creationId xmlns:a16="http://schemas.microsoft.com/office/drawing/2014/main" id="{FB0AE2E5-4666-40EB-9D59-DD4F540AEB4B}"/>
              </a:ext>
            </a:extLst>
          </p:cNvPr>
          <p:cNvSpPr>
            <a:spLocks xmlns:a="http://schemas.openxmlformats.org/drawingml/2006/main" noGrp="1"/>
          </p:cNvSpPr>
          <p:nvPr/>
        </p:nvSpPr>
        <p:spPr>
          <a:xfrm xmlns:a="http://schemas.openxmlformats.org/drawingml/2006/main">
            <a:off x="571500" y="14954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06A"/>
                </a:solidFill>
                <a:latin typeface="Arial"/>
                <a:ea typeface="Arial"/>
                <a:cs typeface="Arial"/>
              </a:defRPr>
            </a:pPr>
            <a:r>
              <a:rPr sz="1875" b="0">
                <a:solidFill>
                  <a:srgbClr val="53606A"/>
                </a:solidFill>
                <a:latin typeface="Arial"/>
                <a:ea typeface="Arial"/>
                <a:cs typeface="Arial"/>
              </a:rPr>
              <a:t>The skill helps post-sale teams find missing decisions before kickoff.</a:t>
            </a:r>
          </a:p>
        </p:txBody>
      </p:sp>
      <p:sp>
        <p:nvSpPr>
          <p:cNvPr id="4" name="flow-0">
            <a:extLst xmlns:a="http://schemas.openxmlformats.org/drawingml/2006/main">
              <a:ext uri="{FF2B5EF4-FFF2-40B4-BE49-F238E27FC236}">
                <a16:creationId xmlns:a16="http://schemas.microsoft.com/office/drawing/2014/main" id="{0013B051-980B-4018-B5FE-5DBB80A999FA}"/>
              </a:ext>
            </a:extLst>
          </p:cNvPr>
          <p:cNvSpPr>
            <a:spLocks xmlns:a="http://schemas.openxmlformats.org/drawingml/2006/main" noGrp="1"/>
          </p:cNvSpPr>
          <p:nvPr/>
        </p:nvSpPr>
        <p:spPr>
          <a:xfrm xmlns:a="http://schemas.openxmlformats.org/drawingml/2006/main">
            <a:off x="571500"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Five CSVs</a:t>
            </a:r>
          </a:p>
        </p:txBody>
      </p:sp>
      <p:sp>
        <p:nvSpPr>
          <p:cNvPr id="5" name="detail-0">
            <a:extLst xmlns:a="http://schemas.openxmlformats.org/drawingml/2006/main">
              <a:ext uri="{FF2B5EF4-FFF2-40B4-BE49-F238E27FC236}">
                <a16:creationId xmlns:a16="http://schemas.microsoft.com/office/drawing/2014/main" id="{5478019F-1376-4833-BF26-0A115123F8A2}"/>
              </a:ext>
            </a:extLst>
          </p:cNvPr>
          <p:cNvSpPr>
            <a:spLocks xmlns:a="http://schemas.openxmlformats.org/drawingml/2006/main" noGrp="1"/>
          </p:cNvSpPr>
          <p:nvPr/>
        </p:nvSpPr>
        <p:spPr>
          <a:xfrm xmlns:a="http://schemas.openxmlformats.org/drawingml/2006/main">
            <a:off x="571500"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Salesforce-style</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mock records</a:t>
            </a:r>
          </a:p>
        </p:txBody>
      </p:sp>
      <p:sp>
        <p:nvSpPr>
          <p:cNvPr id="6" name="flow-1">
            <a:extLst xmlns:a="http://schemas.openxmlformats.org/drawingml/2006/main">
              <a:ext uri="{FF2B5EF4-FFF2-40B4-BE49-F238E27FC236}">
                <a16:creationId xmlns:a16="http://schemas.microsoft.com/office/drawing/2014/main" id="{9BFA6D19-4ECE-4466-B9F6-1DB870366EFD}"/>
              </a:ext>
            </a:extLst>
          </p:cNvPr>
          <p:cNvSpPr>
            <a:spLocks xmlns:a="http://schemas.openxmlformats.org/drawingml/2006/main" noGrp="1"/>
          </p:cNvSpPr>
          <p:nvPr/>
        </p:nvSpPr>
        <p:spPr>
          <a:xfrm xmlns:a="http://schemas.openxmlformats.org/drawingml/2006/main">
            <a:off x="3514725"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Python checks</a:t>
            </a:r>
          </a:p>
        </p:txBody>
      </p:sp>
      <p:sp>
        <p:nvSpPr>
          <p:cNvPr id="7" name="detail-1">
            <a:extLst xmlns:a="http://schemas.openxmlformats.org/drawingml/2006/main">
              <a:ext uri="{FF2B5EF4-FFF2-40B4-BE49-F238E27FC236}">
                <a16:creationId xmlns:a16="http://schemas.microsoft.com/office/drawing/2014/main" id="{9A91958A-448D-454F-A878-B0E5D6FD8324}"/>
              </a:ext>
            </a:extLst>
          </p:cNvPr>
          <p:cNvSpPr>
            <a:spLocks xmlns:a="http://schemas.openxmlformats.org/drawingml/2006/main" noGrp="1"/>
          </p:cNvSpPr>
          <p:nvPr/>
        </p:nvSpPr>
        <p:spPr>
          <a:xfrm xmlns:a="http://schemas.openxmlformats.org/drawingml/2006/main">
            <a:off x="3514725"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Required fields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and record links</a:t>
            </a:r>
          </a:p>
        </p:txBody>
      </p:sp>
      <p:sp>
        <p:nvSpPr>
          <p:cNvPr id="8" name="flow-2">
            <a:extLst xmlns:a="http://schemas.openxmlformats.org/drawingml/2006/main">
              <a:ext uri="{FF2B5EF4-FFF2-40B4-BE49-F238E27FC236}">
                <a16:creationId xmlns:a16="http://schemas.microsoft.com/office/drawing/2014/main" id="{2794242B-B3FA-469E-A43D-176E68ECEA5A}"/>
              </a:ext>
            </a:extLst>
          </p:cNvPr>
          <p:cNvSpPr>
            <a:spLocks xmlns:a="http://schemas.openxmlformats.org/drawingml/2006/main" noGrp="1"/>
          </p:cNvSpPr>
          <p:nvPr/>
        </p:nvSpPr>
        <p:spPr>
          <a:xfrm xmlns:a="http://schemas.openxmlformats.org/drawingml/2006/main">
            <a:off x="6457950"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Agent review</a:t>
            </a:r>
          </a:p>
        </p:txBody>
      </p:sp>
      <p:sp>
        <p:nvSpPr>
          <p:cNvPr id="9" name="detail-2">
            <a:extLst xmlns:a="http://schemas.openxmlformats.org/drawingml/2006/main">
              <a:ext uri="{FF2B5EF4-FFF2-40B4-BE49-F238E27FC236}">
                <a16:creationId xmlns:a16="http://schemas.microsoft.com/office/drawing/2014/main" id="{5007BA71-D400-4AA7-B410-5C4CDFA1490B}"/>
              </a:ext>
            </a:extLst>
          </p:cNvPr>
          <p:cNvSpPr>
            <a:spLocks xmlns:a="http://schemas.openxmlformats.org/drawingml/2006/main" noGrp="1"/>
          </p:cNvSpPr>
          <p:nvPr/>
        </p:nvSpPr>
        <p:spPr>
          <a:xfrm xmlns:a="http://schemas.openxmlformats.org/drawingml/2006/main">
            <a:off x="6457950"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Compare CRM</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with sales notes</a:t>
            </a:r>
          </a:p>
        </p:txBody>
      </p:sp>
      <p:sp>
        <p:nvSpPr>
          <p:cNvPr id="10" name="flow-3">
            <a:extLst xmlns:a="http://schemas.openxmlformats.org/drawingml/2006/main">
              <a:ext uri="{FF2B5EF4-FFF2-40B4-BE49-F238E27FC236}">
                <a16:creationId xmlns:a16="http://schemas.microsoft.com/office/drawing/2014/main" id="{19F37BAA-94F3-45EA-898B-F16E38684CFE}"/>
              </a:ext>
            </a:extLst>
          </p:cNvPr>
          <p:cNvSpPr>
            <a:spLocks xmlns:a="http://schemas.openxmlformats.org/drawingml/2006/main" noGrp="1"/>
          </p:cNvSpPr>
          <p:nvPr/>
        </p:nvSpPr>
        <p:spPr>
          <a:xfrm xmlns:a="http://schemas.openxmlformats.org/drawingml/2006/main">
            <a:off x="9401175"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Handoff brief</a:t>
            </a:r>
          </a:p>
        </p:txBody>
      </p:sp>
      <p:sp>
        <p:nvSpPr>
          <p:cNvPr id="11" name="detail-3">
            <a:extLst xmlns:a="http://schemas.openxmlformats.org/drawingml/2006/main">
              <a:ext uri="{FF2B5EF4-FFF2-40B4-BE49-F238E27FC236}">
                <a16:creationId xmlns:a16="http://schemas.microsoft.com/office/drawing/2014/main" id="{57922F85-DD14-482F-A484-F0AE657A46F4}"/>
              </a:ext>
            </a:extLst>
          </p:cNvPr>
          <p:cNvSpPr>
            <a:spLocks xmlns:a="http://schemas.openxmlformats.org/drawingml/2006/main" noGrp="1"/>
          </p:cNvSpPr>
          <p:nvPr/>
        </p:nvSpPr>
        <p:spPr>
          <a:xfrm xmlns:a="http://schemas.openxmlformats.org/drawingml/2006/main">
            <a:off x="9401175"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Readiness, sources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and open questions</a:t>
            </a:r>
          </a:p>
        </p:txBody>
      </p:sp>
      <p:cxnSp>
        <p:nvCxnSpPr>
          <p:cNvPr id="35" name=""/>
          <p:cNvCxnSpPr>
            <a:stCxn xmlns:a="http://schemas.openxmlformats.org/drawingml/2006/main" id="4" idx="3"/>
            <a:endCxn xmlns:a="http://schemas.openxmlformats.org/drawingml/2006/main" id="6" idx="1"/>
          </p:cNvCxnSpPr>
          <p:nvPr/>
        </p:nvCxnSpPr>
        <p:spPr>
          <a:xfrm xmlns:a="http://schemas.openxmlformats.org/drawingml/2006/main">
            <a:off x="2771775"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a:off x="5715000"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a:off x="8658225"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sp>
        <p:nvSpPr>
          <p:cNvPr id="15" name="demo-label">
            <a:extLst xmlns:a="http://schemas.openxmlformats.org/drawingml/2006/main">
              <a:ext uri="{FF2B5EF4-FFF2-40B4-BE49-F238E27FC236}">
                <a16:creationId xmlns:a16="http://schemas.microsoft.com/office/drawing/2014/main" id="{82556AA3-0794-4640-8F8D-207B416A4DCB}"/>
              </a:ext>
            </a:extLst>
          </p:cNvPr>
          <p:cNvSpPr>
            <a:spLocks xmlns:a="http://schemas.openxmlformats.org/drawingml/2006/main" noGrp="1"/>
          </p:cNvSpPr>
          <p:nvPr/>
        </p:nvSpPr>
        <p:spPr>
          <a:xfrm xmlns:a="http://schemas.openxmlformats.org/drawingml/2006/main">
            <a:off x="571500" y="4010025"/>
            <a:ext cx="742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2D42"/>
                </a:solidFill>
                <a:latin typeface="Arial"/>
                <a:ea typeface="Arial"/>
                <a:cs typeface="Arial"/>
              </a:defRPr>
            </a:pPr>
            <a:r>
              <a:rPr sz="2175" b="1">
                <a:solidFill>
                  <a:srgbClr val="172D42"/>
                </a:solidFill>
                <a:latin typeface="Arial"/>
                <a:ea typeface="Arial"/>
                <a:cs typeface="Arial"/>
              </a:rPr>
              <a:t>Demo: Terrapin Touring Co.</a:t>
            </a:r>
          </a:p>
        </p:txBody>
      </p:sp>
      <p:sp>
        <p:nvSpPr>
          <p:cNvPr id="16" name="baseline-label">
            <a:extLst xmlns:a="http://schemas.openxmlformats.org/drawingml/2006/main">
              <a:ext uri="{FF2B5EF4-FFF2-40B4-BE49-F238E27FC236}">
                <a16:creationId xmlns:a16="http://schemas.microsoft.com/office/drawing/2014/main" id="{8E39725B-5B32-4928-B052-177F186177BB}"/>
              </a:ext>
            </a:extLst>
          </p:cNvPr>
          <p:cNvSpPr>
            <a:spLocks xmlns:a="http://schemas.openxmlformats.org/drawingml/2006/main" noGrp="1"/>
          </p:cNvSpPr>
          <p:nvPr/>
        </p:nvSpPr>
        <p:spPr>
          <a:xfrm xmlns:a="http://schemas.openxmlformats.org/drawingml/2006/main">
            <a:off x="571500" y="4533900"/>
            <a:ext cx="2809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Python baseline</a:t>
            </a:r>
          </a:p>
        </p:txBody>
      </p:sp>
      <p:sp>
        <p:nvSpPr>
          <p:cNvPr id="17" name="final-label">
            <a:extLst xmlns:a="http://schemas.openxmlformats.org/drawingml/2006/main">
              <a:ext uri="{FF2B5EF4-FFF2-40B4-BE49-F238E27FC236}">
                <a16:creationId xmlns:a16="http://schemas.microsoft.com/office/drawing/2014/main" id="{1F3022E4-1597-467D-B574-F4ECC403A10A}"/>
              </a:ext>
            </a:extLst>
          </p:cNvPr>
          <p:cNvSpPr>
            <a:spLocks xmlns:a="http://schemas.openxmlformats.org/drawingml/2006/main" noGrp="1"/>
          </p:cNvSpPr>
          <p:nvPr/>
        </p:nvSpPr>
        <p:spPr>
          <a:xfrm xmlns:a="http://schemas.openxmlformats.org/drawingml/2006/main">
            <a:off x="3629025" y="453390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After note review</a:t>
            </a:r>
          </a:p>
        </p:txBody>
      </p:sp>
      <p:sp>
        <p:nvSpPr>
          <p:cNvPr id="18" name="baseline-status">
            <a:extLst xmlns:a="http://schemas.openxmlformats.org/drawingml/2006/main">
              <a:ext uri="{FF2B5EF4-FFF2-40B4-BE49-F238E27FC236}">
                <a16:creationId xmlns:a16="http://schemas.microsoft.com/office/drawing/2014/main" id="{EB51E907-1964-4807-95E4-98F1EE496FBD}"/>
              </a:ext>
            </a:extLst>
          </p:cNvPr>
          <p:cNvSpPr>
            <a:spLocks xmlns:a="http://schemas.openxmlformats.org/drawingml/2006/main" noGrp="1"/>
          </p:cNvSpPr>
          <p:nvPr/>
        </p:nvSpPr>
        <p:spPr>
          <a:xfrm xmlns:a="http://schemas.openxmlformats.org/drawingml/2006/main">
            <a:off x="571500" y="4876800"/>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72D42"/>
                </a:solidFill>
                <a:latin typeface="Arial"/>
                <a:ea typeface="Arial"/>
                <a:cs typeface="Arial"/>
              </a:defRPr>
            </a:pPr>
            <a:r>
              <a:rPr sz="2550" b="1">
                <a:solidFill>
                  <a:srgbClr val="172D42"/>
                </a:solidFill>
                <a:latin typeface="Arial"/>
                <a:ea typeface="Arial"/>
                <a:cs typeface="Arial"/>
              </a:rPr>
              <a:t>Ready</a:t>
            </a:r>
          </a:p>
        </p:txBody>
      </p:sp>
      <p:sp>
        <p:nvSpPr>
          <p:cNvPr id="19" name="final-status">
            <a:extLst xmlns:a="http://schemas.openxmlformats.org/drawingml/2006/main">
              <a:ext uri="{FF2B5EF4-FFF2-40B4-BE49-F238E27FC236}">
                <a16:creationId xmlns:a16="http://schemas.microsoft.com/office/drawing/2014/main" id="{2E4889A5-A774-4E4F-8F57-96B4186F33D4}"/>
              </a:ext>
            </a:extLst>
          </p:cNvPr>
          <p:cNvSpPr>
            <a:spLocks xmlns:a="http://schemas.openxmlformats.org/drawingml/2006/main" noGrp="1"/>
          </p:cNvSpPr>
          <p:nvPr/>
        </p:nvSpPr>
        <p:spPr>
          <a:xfrm xmlns:a="http://schemas.openxmlformats.org/drawingml/2006/main">
            <a:off x="3629025" y="48768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A63646"/>
                </a:solidFill>
                <a:latin typeface="Arial"/>
                <a:ea typeface="Arial"/>
                <a:cs typeface="Arial"/>
              </a:defRPr>
            </a:pPr>
            <a:r>
              <a:rPr sz="2550" b="1">
                <a:solidFill>
                  <a:srgbClr val="A63646"/>
                </a:solidFill>
                <a:latin typeface="Arial"/>
                <a:ea typeface="Arial"/>
                <a:cs typeface="Arial"/>
              </a:rPr>
              <a:t>Needs Review</a:t>
            </a:r>
          </a:p>
        </p:txBody>
      </p:sp>
      <p:sp>
        <p:nvSpPr>
          <p:cNvPr id="20" name="conflict">
            <a:extLst xmlns:a="http://schemas.openxmlformats.org/drawingml/2006/main">
              <a:ext uri="{FF2B5EF4-FFF2-40B4-BE49-F238E27FC236}">
                <a16:creationId xmlns:a16="http://schemas.microsoft.com/office/drawing/2014/main" id="{5AB6EE0C-93A7-4EEA-9A97-41CBF9FA5E9E}"/>
              </a:ext>
            </a:extLst>
          </p:cNvPr>
          <p:cNvSpPr>
            <a:spLocks xmlns:a="http://schemas.openxmlformats.org/drawingml/2006/main" noGrp="1"/>
          </p:cNvSpPr>
          <p:nvPr/>
        </p:nvSpPr>
        <p:spPr>
          <a:xfrm xmlns:a="http://schemas.openxmlformats.org/drawingml/2006/main">
            <a:off x="571500" y="5505450"/>
            <a:ext cx="72294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2D42"/>
                </a:solidFill>
                <a:latin typeface="Arial"/>
                <a:ea typeface="Arial"/>
                <a:cs typeface="Arial"/>
              </a:defRPr>
            </a:pPr>
            <a:r>
              <a:rPr sz="1800" b="0">
                <a:solidFill>
                  <a:srgbClr val="172D42"/>
                </a:solidFill>
                <a:latin typeface="Arial"/>
                <a:ea typeface="Arial"/>
                <a:cs typeface="Arial"/>
              </a:rPr>
              <a:t>CRM: pilot starts Oct 5. Approved change: Nov 2.</a:t>
            </a:r>
          </a:p>
          <a:p xmlns:a="http://schemas.openxmlformats.org/drawingml/2006/main">
            <a:pPr>
              <a:defRPr sz="1800" b="0">
                <a:solidFill>
                  <a:srgbClr val="172D42"/>
                </a:solidFill>
                <a:latin typeface="Arial"/>
                <a:ea typeface="Arial"/>
                <a:cs typeface="Arial"/>
              </a:defRPr>
            </a:pPr>
            <a:r>
              <a:rPr sz="1800" b="0">
                <a:solidFill>
                  <a:srgbClr val="172D42"/>
                </a:solidFill>
                <a:latin typeface="Arial"/>
                <a:ea typeface="Arial"/>
                <a:cs typeface="Arial"/>
              </a:rPr>
              <a:t>The team must reconcile the remaining milestones.</a:t>
            </a:r>
          </a:p>
        </p:txBody>
      </p:sp>
      <p:sp>
        <p:nvSpPr>
          <p:cNvPr id="21" name="boundary-label">
            <a:extLst xmlns:a="http://schemas.openxmlformats.org/drawingml/2006/main">
              <a:ext uri="{FF2B5EF4-FFF2-40B4-BE49-F238E27FC236}">
                <a16:creationId xmlns:a16="http://schemas.microsoft.com/office/drawing/2014/main" id="{E1BD8FAF-DEE2-468D-97BB-8EE4BFC50433}"/>
              </a:ext>
            </a:extLst>
          </p:cNvPr>
          <p:cNvSpPr>
            <a:spLocks xmlns:a="http://schemas.openxmlformats.org/drawingml/2006/main" noGrp="1"/>
          </p:cNvSpPr>
          <p:nvPr/>
        </p:nvSpPr>
        <p:spPr>
          <a:xfrm xmlns:a="http://schemas.openxmlformats.org/drawingml/2006/main">
            <a:off x="8286750" y="40100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People resolve the gaps</a:t>
            </a:r>
          </a:p>
        </p:txBody>
      </p:sp>
      <p:sp>
        <p:nvSpPr>
          <p:cNvPr id="22" name="boundary">
            <a:extLst xmlns:a="http://schemas.openxmlformats.org/drawingml/2006/main">
              <a:ext uri="{FF2B5EF4-FFF2-40B4-BE49-F238E27FC236}">
                <a16:creationId xmlns:a16="http://schemas.microsoft.com/office/drawing/2014/main" id="{A493FA09-CFED-4F10-9060-4E6173C7EC11}"/>
              </a:ext>
            </a:extLst>
          </p:cNvPr>
          <p:cNvSpPr>
            <a:spLocks xmlns:a="http://schemas.openxmlformats.org/drawingml/2006/main" noGrp="1"/>
          </p:cNvSpPr>
          <p:nvPr/>
        </p:nvSpPr>
        <p:spPr>
          <a:xfrm xmlns:a="http://schemas.openxmlformats.org/drawingml/2006/main">
            <a:off x="8286750" y="4552950"/>
            <a:ext cx="335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The brief cites both sources.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The team confirms the plan.</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No CRM writeback in v1.</a:t>
            </a:r>
          </a:p>
        </p:txBody>
      </p:sp>
      <p:sp>
        <p:nvSpPr>
          <p:cNvPr id="23" name="fictional">
            <a:extLst xmlns:a="http://schemas.openxmlformats.org/drawingml/2006/main">
              <a:ext uri="{FF2B5EF4-FFF2-40B4-BE49-F238E27FC236}">
                <a16:creationId xmlns:a16="http://schemas.microsoft.com/office/drawing/2014/main" id="{65AF7485-0394-4FC1-8BBA-DF37FDC73928}"/>
              </a:ext>
            </a:extLst>
          </p:cNvPr>
          <p:cNvSpPr>
            <a:spLocks xmlns:a="http://schemas.openxmlformats.org/drawingml/2006/main" noGrp="1"/>
          </p:cNvSpPr>
          <p:nvPr/>
        </p:nvSpPr>
        <p:spPr>
          <a:xfrm xmlns:a="http://schemas.openxmlformats.org/drawingml/2006/main">
            <a:off x="8286750" y="605790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Fictional Grateful Dead demo</a:t>
            </a:r>
          </a:p>
        </p:txBody>
      </p:sp>
    </p:spTree>
    <p:extLst>
      <p:ext uri="{BB962C8B-B14F-4D97-AF65-F5344CB8AC3E}">
        <p14:creationId xmlns:p14="http://schemas.microsoft.com/office/powerpoint/2010/main" val="5380611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2026-09-16T03:21:52.9820000Z</dcterms:created>
  <dcterms:modified xsi:type="dcterms:W3CDTF">2026-09-16T03:21:52.9830000Z</dcterms:modified>
</coreProperties>
</file>